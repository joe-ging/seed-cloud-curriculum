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 (QF Level 2 認證單元)</a:t>
            </a:r>
          </a:p>
          <a:p>
            <a:pPr>
              <a:spcBef>
                <a:spcPts val="1000"/>
              </a:spcBef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第 1 課：雲計算架構基石與雲服務類別</a:t>
            </a:r>
          </a:p>
          <a:p>
            <a:pPr>
              <a:spcBef>
                <a:spcPts val="1600"/>
              </a:spcBef>
              <a:defRPr sz="2200">
                <a:solidFill>
                  <a:srgbClr val="94A3B8"/>
                </a:solidFill>
                <a:latin typeface="Microsoft JhengHei"/>
              </a:defRPr>
            </a:pPr>
            <a:r>
              <a:t>解密場所資源 vs 雲資源 · 披薩模型 (Pizza-as-a-Service) · AI 現代運維實踐</a:t>
            </a:r>
          </a:p>
          <a:p>
            <a:pPr>
              <a:spcBef>
                <a:spcPts val="3600"/>
              </a:spcBef>
              <a:defRPr sz="1600" b="1">
                <a:solidFill>
                  <a:srgbClr val="10B981"/>
                </a:solidFill>
                <a:latin typeface="Microsoft JhengHei"/>
              </a:defRPr>
            </a:pPr>
            <a:r>
              <a:t>SEED Foundation × 香港大學專業進修學院 (HKU SPACE)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本課內容與通關地圖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痛點剖析：為什麼大企業紛紛砸掉自家機房？（場所資源 vs 雲資源）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生活化大模型：屋頂自建水箱 vs 城市自來水龍頭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雲服務三大類別：披薩模型 (Pizza-as-a-Service) 剖析 IaaS / PaaS / SaaS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現代軟件技術棧：人體器官論解析 5 層架構 (Hardware -&gt; OS -&gt; App)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多雲廠商中立映射：阿里雲 ↔ AWS ↔ Cloudflare 核心術語對照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AI 現代賦能：AI CLI Helper 降低命令行恐懼 + Lab 01 終端動手初體驗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課前前瞻：AI 時代的雲端架構師是怎麼工作的？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傳統運維：在黑屏終端手敲數十行命令，耗時 20 分鐘且極易出錯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AI 原生架構師：人在香港教室，輸入一句話指令 (Prompt)</a:t>
            </a:r>
          </a:p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Google Antigravity Agent 自動化閉環：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現場設計現代暗黑毛玻璃氣象雙城對比看板 (Hong Kong &amp; Tokyo)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自動建立 SSH 跨海加密隧道，推送到日本東京生產伺服器 (104.156.238.43)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檢查 Nginx 80 端口服務狀態，驗證 HTTP 200 OK 連通性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學生拿出手機掃碼：即時訪問 https://jl-intelligence.net/weather.html！</a:t>
            </a:r>
          </a:p>
          <a:p>
            <a:pPr>
              <a:spcAft>
                <a:spcPts val="1400"/>
              </a:spcAft>
              <a:defRPr sz="2200" b="1">
                <a:solidFill>
                  <a:srgbClr val="DE5D49"/>
                </a:solidFill>
                <a:latin typeface="Microsoft JhengHei"/>
              </a:defRPr>
            </a:pPr>
            <a:r>
              <a:t>■ 思考：如果你不懂底層 Linux、Nginx 與端口，你怎麼知道 AI 敲得對不對？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課前思考題：一所學校的難題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假設你的學校下個月因為突發科技競賽，需要為全校 500 位新生每人配置一台高性能電腦：</a:t>
            </a:r>
          </a:p>
          <a:p>
            <a:pPr>
              <a:spcAft>
                <a:spcPts val="1400"/>
              </a:spcAft>
              <a:defRPr sz="2600" b="1">
                <a:solidFill>
                  <a:srgbClr val="DE5D49"/>
                </a:solidFill>
                <a:latin typeface="Microsoft JhengHei"/>
              </a:defRPr>
            </a:pPr>
            <a:r>
              <a:t>■ 學校如果親自去腦場（黃金/旺角）下單購買、運送、組裝、拉電線，來得及嗎？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採購與物流等待：至少需要 2 ~ 4 週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機房空間與供電：學校沒有多餘房間，電錶跳閘，散熱不足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資金浪費：競賽結束後，這 500 台電腦閒置在機房積灰塵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這就是傳統「場所資源 (On-Premises)」的致命弱點：笨重、遲緩、缺乏彈性！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什麼是場所資源 (On-Premises Resources)？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在雲服務普及之前，企業必須自行出資購買電腦硬體並自設存放空間</a:t>
            </a:r>
          </a:p>
          <a:p>
            <a:pPr>
              <a:spcAft>
                <a:spcPts val="1400"/>
              </a:spcAft>
              <a:defRPr sz="2600" b="1">
                <a:solidFill>
                  <a:srgbClr val="FFCE2B"/>
                </a:solidFill>
                <a:latin typeface="Microsoft JhengHei"/>
              </a:defRPr>
            </a:pPr>
            <a:r>
              <a:t>■ 存放於自家庭院或辦公室內的運算設備被稱為：場所運算設備 / 場所資源</a:t>
            </a:r>
          </a:p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包含完整的硬體鏈條：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物理伺服器 (Servers) 與 CPU / 內存 / 硬盤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網絡交換機 (Switch)、路由器 (Router) 與硬體防火牆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不間斷電源供應系統 (UPS) 與專用空調散熱設施</a:t>
            </a:r>
          </a:p>
          <a:p>
            <a:pPr>
              <a:spcAft>
                <a:spcPts val="14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責任邊界：企業對這間機房內的一磚一瓦負 100% 的維護責任！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生活化比喻：唐樓樓頂的自建水箱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想像你的學校不依賴市政供水，而是在天台自建一個巨大的蓄水鐵皮箱：</a:t>
            </a:r>
          </a:p>
          <a:p>
            <a:pPr>
              <a:spcAft>
                <a:spcPts val="1400"/>
              </a:spcAft>
              <a:defRPr sz="2200" b="0">
                <a:solidFill>
                  <a:srgbClr val="DE5D49"/>
                </a:solidFill>
                <a:latin typeface="Microsoft JhengHei"/>
              </a:defRPr>
            </a:pPr>
            <a:r>
              <a:t>■ 高昂初始投資 (Capex)：先掏幾萬塊買水箱、請吊車吊上天台、雇工接管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沉重日常運維：定期爬樓梯清洗水垢、檢查鐵鏽、更換老化水閥</a:t>
            </a:r>
          </a:p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容量被物理鎖死：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水箱裝 500 升就是 500 升，平時用不完是浪費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遇到 50 個客人同時洗澡，水箱瞬間抽乾，毫無彈性！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這就是 On-Premises：前期貴、運維苦、容量死板！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香港本地現實：中小企業機房的噩夢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香港寸金尺土：中環、觀塘寫字樓每平方呎租金昂貴</a:t>
            </a:r>
          </a:p>
          <a:p>
            <a:pPr>
              <a:spcAft>
                <a:spcPts val="14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撥出 100 呎空間放伺服器，每個月光租金就要上萬港幣！</a:t>
            </a:r>
          </a:p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非專業管理的常態困局：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很多中小企業的 Server 房電線雜亂無章，最後淪為放拖把的雜物房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商業大廈週末晚間關閉中央空調，伺服器頻頻過熱死機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雜工踢掉插頭或網線，全公司網店與電郵系統瞬間中斷</a:t>
            </a:r>
          </a:p>
          <a:p>
            <a:pPr>
              <a:spcAft>
                <a:spcPts val="1400"/>
              </a:spcAft>
              <a:defRPr sz="2600" b="1">
                <a:solidFill>
                  <a:srgbClr val="FFCE2B"/>
                </a:solidFill>
                <a:latin typeface="Microsoft JhengHei"/>
              </a:defRPr>
            </a:pPr>
            <a:r>
              <a:t>■ 結論：中小企業根本沒有財力與專業團隊自己養數據中心！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什麼是雲資源 (Cloud Resources)？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雲資源是由超大型雲供應商（AWS、阿里雲、微軟、Cloudflare）在全球數據中心管理的資源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客戶無需購買硬體，僅透過互聯網以「租用」方式獲取運算力與存儲</a:t>
            </a:r>
          </a:p>
          <a:p>
            <a:pPr>
              <a:spcAft>
                <a:spcPts val="1400"/>
              </a:spcAft>
              <a:defRPr sz="2600" b="1">
                <a:solidFill>
                  <a:srgbClr val="10B981"/>
                </a:solidFill>
                <a:latin typeface="Microsoft JhengHei"/>
              </a:defRPr>
            </a:pPr>
            <a:r>
              <a:t>■ 生活化比喻：市政自來水管網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家裡不再需要樓頂大水箱，只需連接市政自來水管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扭開水龍頭就有水，水廠專業工程師 24/7 監控水質與水壓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隨意用水，用多少立方米就交多少水費（即付即用 Pay-as-you-go）</a:t>
            </a:r>
          </a:p>
          <a:p>
            <a:pPr>
              <a:spcAft>
                <a:spcPts val="1400"/>
              </a:spcAft>
              <a:defRPr sz="2000" b="1">
                <a:solidFill>
                  <a:srgbClr val="42413D"/>
                </a:solidFill>
                <a:latin typeface="Microsoft JhengHei"/>
              </a:defRPr>
            </a:pPr>
            <a:r>
              <a:t>■   • 家裡開大型派對，水喉全開也有水，全港水塘容量無限！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關鍵對決：場所資源 vs. 雲資源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費用模式：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場所資源：Capex (資本支出)，前期掏巨資購買硬體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雲資源：Opex (營運支出)，即付即用，零首付</a:t>
            </a:r>
          </a:p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部署速度：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場所資源：數週至數月（採購、物流、裝機、佈線）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雲資源：數十秒至數分鐘（網頁點擊或 API 秒級交付）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維護責任：企業自己修壞件 vs. 雲廠商全球專業團隊 24/7 全包</a:t>
            </a:r>
          </a:p>
          <a:p>
            <a:pPr>
              <a:spcAft>
                <a:spcPts val="14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彈性規模：固定上限 vs. 隨業務流量自由伸縮 (Elasticity)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課堂討論：為什麼 99% 的初創公司不再買伺服器？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情境：你和同學打算在香港創業，開發一個「中學生二手教科書交易平台」：</a:t>
            </a:r>
          </a:p>
          <a:p>
            <a:pPr>
              <a:spcAft>
                <a:spcPts val="14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如果選擇自建機房：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上線前得花 10 萬港幣買硬體，若創業失敗，硬體直接變廢鐵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如果選擇雲計算：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第一個月用戶只有 50 人，雲端開銷只需幾十港幣！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突然被電視台報導爆紅，瞬間有 5 萬人湧入，雲端 1 秒自動擴容！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核心優勢總結：極低試錯成本 + 快速驗證商業模型 + 無限擴展潛力！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什麼是基建 (Computing Infrastructure)？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電腦運算基建是指提供數據運算、傳輸與存儲的底層硬體裝備集合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四大基石組件：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1. 伺服器與虛擬機 (Compute)：提供 CPU 與內存執行代碼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2. 存儲設備 (Storage)：存放數據庫與海量檔案 (SSD/磁盤陣列)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3. 網絡設備 (Networking)：光纖、交換機、路由器、負載均衡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4. 操作系統與鏡像 (OS Images)：Ubuntu、Windows Server 鏡像</a:t>
            </a:r>
          </a:p>
          <a:p>
            <a:pPr>
              <a:spcAft>
                <a:spcPts val="14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雲供應商的機房規模龐大，全球光纖互聯，這不是單一企業能獨立架構的！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現代軟件組件與服務 (Software Components &amp; Services)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一個應用程序絕不是一個孤立的文件，它是一套分工嚴密的軟件技術棧：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現代應用的 5 層階梯：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[第 5 層] Application (應用代碼)：你的網店、遊戲代碼 (HTML/JS/Python)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[第 4 層] Database (數據庫/中間件)：存放用戶資料 (MySQL, Redis)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[第 3 層] Runtime (運行時環境)：解析執行代碼 (Node.js, Python VM)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[第 2 層] Operating System (操作系統)：調度硬體資源 (Linux Ubuntu)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[第 1 層] Hardware (物理硬體)：伺服器物理晶片與網絡線路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這 5 層就像一支足球隊，各司其職，協同運轉！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生動比喻：現代 App 的人體器官論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如果把一個雲端應用比喻為一個人體：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骨骼肌肉 (Hardware)：伺服器鋼架、硬盤、網卡，提供物理軀體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呼吸神經系統 (OS)：Linux 操作系統，調配血液與呼吸節奏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消化代謝系統 (Runtime)：Node.js/Python 引擎，把代碼轉化為能量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大腦記憶中樞 (Database)：記錄童年回憶與所有學員資料</a:t>
            </a:r>
          </a:p>
          <a:p>
            <a:pPr>
              <a:spcAft>
                <a:spcPts val="14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  • 外貌與說話表情 (Application)：前端網頁界面，與外界用戶交互</a:t>
            </a:r>
          </a:p>
          <a:p>
            <a:pPr>
              <a:spcAft>
                <a:spcPts val="14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關鍵思考：當你租用雲服務時，雲廠商願意幫你管幾件器官？你自己又得管幾件？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雲服務三大類別的起源：誰來負責哪一層？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面對 5 層技術棧，不同客戶有完全不同的需求：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有的工程師想要 100% 自由控制，自己裝軟件 ➔ 只需要雲廠商提供硬體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有的程序員只想專心寫代碼，不想管操作系統維護 ➔ 需要全託管平台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有的普通用戶只想用成品，連一行代碼都不會寫 ➔ 只需要成品軟件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這就誕生了全球雲計算最重要的三大服務模式：</a:t>
            </a:r>
          </a:p>
          <a:p>
            <a:pPr>
              <a:spcAft>
                <a:spcPts val="1400"/>
              </a:spcAft>
              <a:defRPr sz="2200" b="0">
                <a:solidFill>
                  <a:srgbClr val="FFCE2B"/>
                </a:solidFill>
                <a:latin typeface="Microsoft JhengHei"/>
              </a:defRPr>
            </a:pPr>
            <a:r>
              <a:t>■   1. IaaS (Infrastructure as a Service) 基建即服務</a:t>
            </a:r>
          </a:p>
          <a:p>
            <a:pPr>
              <a:spcAft>
                <a:spcPts val="1400"/>
              </a:spcAft>
              <a:defRPr sz="2200" b="0">
                <a:solidFill>
                  <a:srgbClr val="10B981"/>
                </a:solidFill>
                <a:latin typeface="Microsoft JhengHei"/>
              </a:defRPr>
            </a:pPr>
            <a:r>
              <a:t>■   2. PaaS (Platform as a Service) 平台即服務</a:t>
            </a:r>
          </a:p>
          <a:p>
            <a:pPr>
              <a:spcAft>
                <a:spcPts val="1400"/>
              </a:spcAft>
              <a:defRPr sz="2200" b="0">
                <a:solidFill>
                  <a:srgbClr val="DE5D49"/>
                </a:solidFill>
                <a:latin typeface="Microsoft JhengHei"/>
              </a:defRPr>
            </a:pPr>
            <a:r>
              <a:t>■   3. SaaS (Software as a Service) 軟件即服務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🍕 經典神級比喻：披薩即服務 (Pizza-as-a-Service)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吃一頓披薩大餐需要 8 大要素：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芝士 (Cheese)、番茄醬 (Tomato Sauce)、披薩麵皮 (Dough)、配料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烤爐 (Oven)、燃氣/木柴 (Gas/Fire)、餐桌 (Dining Table)、冰鎮汽水 (Soda)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獲取披薩的四種截然不同的方式：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1. 傳統自製披薩 ➔ 【自建機房 On-Premises】</a:t>
            </a:r>
          </a:p>
          <a:p>
            <a:pPr>
              <a:spcAft>
                <a:spcPts val="1400"/>
              </a:spcAft>
              <a:defRPr sz="2200" b="0">
                <a:solidFill>
                  <a:srgbClr val="FFCE2B"/>
                </a:solidFill>
                <a:latin typeface="Microsoft JhengHei"/>
              </a:defRPr>
            </a:pPr>
            <a:r>
              <a:t>■   2. 買生披薩回家自己烤 ➔ 【IaaS 基建即服務】</a:t>
            </a:r>
          </a:p>
          <a:p>
            <a:pPr>
              <a:spcAft>
                <a:spcPts val="1400"/>
              </a:spcAft>
              <a:defRPr sz="2200" b="0">
                <a:solidFill>
                  <a:srgbClr val="10B981"/>
                </a:solidFill>
                <a:latin typeface="Microsoft JhengHei"/>
              </a:defRPr>
            </a:pPr>
            <a:r>
              <a:t>■   3. 叫外賣熟披薩送上門 ➔ 【PaaS 平台即服務】</a:t>
            </a:r>
          </a:p>
          <a:p>
            <a:pPr>
              <a:spcAft>
                <a:spcPts val="1400"/>
              </a:spcAft>
              <a:defRPr sz="2200" b="0">
                <a:solidFill>
                  <a:srgbClr val="DE5D49"/>
                </a:solidFill>
                <a:latin typeface="Microsoft JhengHei"/>
              </a:defRPr>
            </a:pPr>
            <a:r>
              <a:t>■   4. 走進 Pizza Hut 堂食 ➔ 【SaaS 軟件即服務】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🍕 披薩比喻 1：傳統自製披薩 (On-Premises)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做法：所有東西全部自己掏錢、自己動手！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自己買面粉和面、熬製番茄醬、買芝士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自己搭建烤爐、買柴火或開瓦斯烤披薩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自己擺好家裡的餐桌、倒好汽水，吃完自己洗碗抹桌</a:t>
            </a:r>
          </a:p>
          <a:p>
            <a:pPr>
              <a:spcAft>
                <a:spcPts val="1400"/>
              </a:spcAft>
              <a:defRPr sz="2200" b="0">
                <a:solidFill>
                  <a:srgbClr val="DE5D49"/>
                </a:solidFill>
                <a:latin typeface="Microsoft JhengHei"/>
              </a:defRPr>
            </a:pPr>
            <a:r>
              <a:t>■ 對應 IT 架構：企業自己買伺服器、裝空調、拉網線、裝操作系統、寫代碼！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特點：控制權 100%，但累得要死，成本極高！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🍕 披薩比喻 2：外帶生披薩自己烤 (IaaS)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做法：披薩店幫你做好生麵皮與調配好配料（基建），你買回家自己烤！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披薩店提供：面粉餅底、起司、番茄醬（雲廠商負責伺服器硬體與虛擬化）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你自己負責：家裡的烤箱、火候控制、擺餐桌、倒汽水（自己管操作系統、中間件與代碼）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對應 IT 架構：向 AWS / 阿里雲租虛擬機 (EC2/ECS)，硬體不用管，但操作系統與代碼你自己配置！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特點：省去了從零自製硬體的麻煩，又保留了自主調配火候的自由！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🍕 披薩比喻 3：外賣熟披薩送上門 (PaaS)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做法：披薩店完全烤熟、熱騰騰送到你家門口！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披薩店全包：餅底、配料、烤箱、瓦斯、烘烤時間（廠商管理硬體、操作系統與運行環境）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你只需提供：家裡的餐桌和飲料，打開盒子直接開吃（你只管上傳代碼和業務數據）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對應 IT 架構：Cloudflare Workers / Google App Engine，上傳腳本代碼即可運行！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特點：完全不需要管烤爐（伺服器維護），專注於享受披薩美味（業務代碼開發）！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🍕 披薩比喻 4：Pizza Hut 堂食吃披薩 (SaaS)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做法：穿上鞋子走進披薩餐廳，坐下就吃！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餐廳全包：披薩食材、廚房烤爐、空調裝修、服務生端菜、洗碗收拾打掃！</a:t>
            </a:r>
          </a:p>
          <a:p>
            <a:pPr>
              <a:spcAft>
                <a:spcPts val="1400"/>
              </a:spcAft>
              <a:defRPr sz="2000" b="0">
                <a:solidFill>
                  <a:srgbClr val="FFCE2B"/>
                </a:solidFill>
                <a:latin typeface="Microsoft JhengHei"/>
              </a:defRPr>
            </a:pPr>
            <a:r>
              <a:t>■   • 你只需：掏出錢包付錢，動嘴享用！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對應 IT 架構：Microsoft 365 / Gmail / Netflix，打開瀏覽器就能直接用！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特點：最極致的省心，零技術門檻，但你無法要求大廚修改底層烤爐結構！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🍕 IaaS / PaaS / SaaS 責任共擔官方考點矩陣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層級劃分：IaaS 管底層 · PaaS 帶代碼來 · SaaS 點開即用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[應用代碼]   客戶管 (IaaS)  |  客戶管 (PaaS)  |  廠商管 (SaaS)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[數據資產]   客戶管 (IaaS)  |  客戶管 (PaaS)  |  廠商管 (SaaS)</a:t>
            </a:r>
          </a:p>
          <a:p>
            <a:pPr>
              <a:spcAft>
                <a:spcPts val="1400"/>
              </a:spcAft>
              <a:defRPr sz="2000" b="0">
                <a:solidFill>
                  <a:srgbClr val="FFCE2B"/>
                </a:solidFill>
                <a:latin typeface="Microsoft JhengHei"/>
              </a:defRPr>
            </a:pPr>
            <a:r>
              <a:t>■   [運行環境]   客戶管 (IaaS)  |  廠商管 (PaaS)  |  廠商管 (SaaS)</a:t>
            </a:r>
          </a:p>
          <a:p>
            <a:pPr>
              <a:spcAft>
                <a:spcPts val="1400"/>
              </a:spcAft>
              <a:defRPr sz="2000" b="0">
                <a:solidFill>
                  <a:srgbClr val="FFCE2B"/>
                </a:solidFill>
                <a:latin typeface="Microsoft JhengHei"/>
              </a:defRPr>
            </a:pPr>
            <a:r>
              <a:t>■   [操作系統]   客戶管 (IaaS)  |  廠商管 (PaaS)  |  廠商管 (SaaS)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[虛擬化層]   廠商管 (IaaS)  |  廠商管 (PaaS)  |  廠商管 (SaaS)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[伺服硬體]   廠商管 (IaaS)  |  廠商管 (PaaS)  |  廠商管 (SaaS)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[機房供電]   廠商管 (IaaS)  |  廠商管 (PaaS)  |  廠商管 (SaaS)</a:t>
            </a:r>
          </a:p>
          <a:p>
            <a:pPr>
              <a:spcAft>
                <a:spcPts val="14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黃金法則：越向右 (SaaS)，運維工作越少；越向左 (IaaS)，自主定制權越大！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深入 IaaS：基礎設施即服務 (Infrastructure as a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定義：將運算、存儲和網絡等最基礎的硬體資源虛擬化，以租用形式提供給客戶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IaaS 是整個雲計算大廈最根本、最底層的基石</a:t>
            </a:r>
          </a:p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全球主要供應商與代表產品：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Amazon Web Services (AWS) ➔ EC2 (Elastic Compute Cloud)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阿里雲 (Alibaba Cloud) ➔ ECS (Elastic Compute Service)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Google Cloud Platform (GCP) ➔ Compute Engine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Microsoft Azure ➔ Virtual Machines</a:t>
            </a:r>
          </a:p>
          <a:p>
            <a:pPr>
              <a:spcAft>
                <a:spcPts val="14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典型場景：大企業需要完全控制 Linux 系統內核，安裝專用數據庫與金融加密軟體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深入 PaaS：平台即服務 (Platform as a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定義：廠商為開發者預先組裝好操作系統、運行環境與網絡，開發者只需交付代碼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核心魅力：免去安裝補丁、配置 Nginx 與伺服器監控的繁瑣運維</a:t>
            </a:r>
          </a:p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著名工業界代表：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Cloudflare Workers (現代邊緣無伺服器計算，毫秒級冷啟動)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Google App Engine / Firebase (移動與 Web 應用快速開發後端)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AWS Elastic Beanstalk (自動配置負載均衡與自動伸縮)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Heroku (學生與獨立開發者最愛的經典極簡平台)</a:t>
            </a:r>
          </a:p>
          <a:p>
            <a:pPr>
              <a:spcAft>
                <a:spcPts val="14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典型場景：初創團隊只想在 3 天內把一個原型網站發布給用戶測試反饋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深入 SaaS：軟件即服務 (Software as a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定義：終端用戶透過互聯網直接使用的成品軟件，背後一切技術細節全被封裝隱藏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我們日常生活無時無刻不在使用的 SaaS 巨頭：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生產力辦公：Microsoft 365 (Word/Excel 在線版), Google Workspace (Gmail, Docs)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影音與娛樂：Netflix (流媒體即服務), Spotify (音樂串流即服務)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創意設計：Canva (在線平面設計即服務), Figma (協同 UI 設計)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企業銷售管理：Salesforce (全球最大的客戶關係管理 CRM)</a:t>
            </a:r>
          </a:p>
          <a:p>
            <a:pPr>
              <a:spcAft>
                <a:spcPts val="1400"/>
              </a:spcAft>
              <a:defRPr sz="2600" b="1">
                <a:solidFill>
                  <a:srgbClr val="10B981"/>
                </a:solidFill>
                <a:latin typeface="Microsoft JhengHei"/>
              </a:defRPr>
            </a:pPr>
            <a:r>
              <a:t>■ 特點：零安裝、零配置、按月訂閱付費，只要有網絡隨處可用！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課堂快問快答：判斷這屬於哪種「即服務」？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請分組搶答下列業務場景屬於 IaaS、PaaS 還是 SaaS：</a:t>
            </a:r>
          </a:p>
          <a:p>
            <a:pPr>
              <a:spcAft>
                <a:spcPts val="14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  1. 學生在手機上用 Spotify 聽歌 ➔ 【 SaaS 】</a:t>
            </a:r>
          </a:p>
          <a:p>
            <a:pPr>
              <a:spcAft>
                <a:spcPts val="1400"/>
              </a:spcAft>
              <a:defRPr sz="2200" b="1">
                <a:solidFill>
                  <a:srgbClr val="FFCE2B"/>
                </a:solidFill>
                <a:latin typeface="Microsoft JhengHei"/>
              </a:defRPr>
            </a:pPr>
            <a:r>
              <a:t>■   2. 學校向阿里雲租用了一台 Ubuntu 伺服器並用 SSH 連線安裝軟體 ➔ 【 IaaS 】</a:t>
            </a:r>
          </a:p>
          <a:p>
            <a:pPr>
              <a:spcAft>
                <a:spcPts val="14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  3. 開發者將一個 JavaScript 腳本直接上傳到 Cloudflare Workers 運行 ➔ 【 PaaS 】</a:t>
            </a:r>
          </a:p>
          <a:p>
            <a:pPr>
              <a:spcAft>
                <a:spcPts val="14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  4. 全校師生登入 Microsoft 365 提交作業 ➔ 【 SaaS 】</a:t>
            </a:r>
          </a:p>
          <a:p>
            <a:pPr>
              <a:spcAft>
                <a:spcPts val="1400"/>
              </a:spcAft>
              <a:defRPr sz="2200" b="1">
                <a:solidFill>
                  <a:srgbClr val="FFCE2B"/>
                </a:solidFill>
                <a:latin typeface="Microsoft JhengHei"/>
              </a:defRPr>
            </a:pPr>
            <a:r>
              <a:t>■   5. 遊戲公司租用 100 台 AWS EC2 虛擬機搭建專用遊戲物理引擎 ➔ 【 IaaS 】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廠商中立性：跨平台多雲架構對照表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作為頂尖雲架構師，絕不將自己綁死在某一家特定廠商，要建立通用思維：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四大領域中立術語對照：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彈性計算：阿里雲 ECS ↔ 亞馬遜 EC2 ↔ Cloudflare Workers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對象存儲：阿里雲 OSS ↔ 亞馬遜 S3 ↔ Cloudflare R2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關係數據庫：阿里雲 RDS ↔ 亞馬遜 Aurora ↔ Cloudflare D1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邊緣與網關：阿里雲 CDN/SLB ↔ 亞馬遜 CloudFront ↔ Cloudflare AI Gateway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結論：技術本質完全相同，學會了底層原理，換到任何平台都能秒級上手！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走進 IaaS 核心：什麼是伺服器 (Server)？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互聯網上的電腦設備被劃分為兩種角色：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1. 客戶端 (Client)：提出請求的一方（iPhone、學生筆記本、平板）</a:t>
            </a:r>
          </a:p>
          <a:p>
            <a:pPr>
              <a:spcAft>
                <a:spcPts val="14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  2. 伺服器 (Server / Host)：為成千上萬客戶端提供服務的主機</a:t>
            </a:r>
          </a:p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伺服器與個人電腦有何根本不同？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個人電腦追求好看的桌面視窗、玩遊戲，注重單人體驗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伺服器追求極限並發與 24/7 不斷電吞吐：更高主頻 CPU、海量 RAM、超寬頻寬</a:t>
            </a:r>
          </a:p>
          <a:p>
            <a:pPr>
              <a:spcAft>
                <a:spcPts val="14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數據中心的伺服器根本不接顯示器和滑鼠，所有管理均遠程進行！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伺服器提供什麼服務？常見伺服器軟件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伺服器硬體就像一個空房子，裝入不同專用軟件就能扮演不同角色：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常見伺服器軟件矩陣：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網頁伺服器 (Web Server)：Nginx, Apache ➔ 監聽 80 / 443 端口，分發 HTML/CSS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數據庫伺服器 (DB Server)：MySQL, MariaDB, PostgreSQL ➔ 儲存用戶密碼與訂單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域名解析伺服器 (DNS Server)：BIND, CoreDNS ➔ 把網址翻譯成 IP 地址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電郵伺服器 (Mail Server)：Postfix ➔ 負責收發學校郵件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今天 Lab 01 我們將親自進入 Linux 系統，為安裝網頁伺服器打好地基！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伺服器硬體形態：裸金屬 vs. 虛擬機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雲廠商提供的伺服器算力分為兩種不同等級：</a:t>
            </a:r>
          </a:p>
          <a:p>
            <a:pPr>
              <a:spcAft>
                <a:spcPts val="14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裸金屬伺服器 (Bare Metal Server) ➔ 【獨棟豪華別墅】：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沒有安裝任何虛擬化層的物理主機，由單一客戶 100% 獨占硬件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極高安全性與極限性能，但價格高昂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虛擬機 (Virtual Machine / ECS) ➔ 【青年公寓隔間】：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在同一台物理大硬體上切分出多個相互隔離的虛擬主機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多個客戶共享底層硬件，費用親民，彈性秒開！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90% 的普通商業與教學應用均採用虛擬機！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虛擬主機的幕後功臣：什麼是 Hypervisor？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虛擬化技術核心：虛擬機器監視器 (Hypervisor / VMM)</a:t>
            </a:r>
          </a:p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它的職責就像公寓的管理處物業經理：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把物理 CPU、物理內存和硬盤劃分給不同的虛擬房間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嚴密隔離各個房間的數據，確保租戶 A 的程式崩潰絕不影響租戶 B</a:t>
            </a:r>
          </a:p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常見虛擬化軟體：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個人電腦體驗版：VMware Workstation, Oracle VirtualBox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雲數據中心企業版：KVM (Linux 內核虛擬化), AWS Nitro, Xen</a:t>
            </a:r>
          </a:p>
          <a:p>
            <a:pPr>
              <a:spcAft>
                <a:spcPts val="1400"/>
              </a:spcAft>
              <a:defRPr sz="2600" b="1">
                <a:solidFill>
                  <a:srgbClr val="FFCE2B"/>
                </a:solidFill>
                <a:latin typeface="Microsoft JhengHei"/>
              </a:defRPr>
            </a:pPr>
            <a:r>
              <a:t>■ 沒有 Hypervisor，就沒有現代廉價高效的雲計算！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操作系統的世界：為什麼伺服器 90% 都是 Linux？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三大操作系統生態對比：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Microsoft Windows：桌面王者，但 Windows Server 需付高昂版權費且圖形界面消耗頻寬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Apple macOS：優秀個人創作電腦，但封閉硬體無法放入標準數據中心機架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  • Linux（雲時代的絕對統治者）：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  1. 開源免費 (Open Source &amp; Free)：零版權稅，裝 10,000 台伺服器也不收一分錢！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  2. 極致輕量高效：不安裝花哨視窗，所有內存 100% 留給業務運算！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  3. SSH 加密遙距管理：全球管理員只需一個黑框終端，加密操控萬里外的伺服器！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SSH 安全外殼協定與 Linux 內核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什麼是 SSH (Secure Shell)?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加密網絡傳輸協議，在公開不可靠的互聯網上建立安全加密隧道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即使黑客在中途攔截數據包，看到的也只是一堆亂碼！</a:t>
            </a:r>
          </a:p>
          <a:p>
            <a:pPr>
              <a:spcAft>
                <a:spcPts val="14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什麼是 Linux 內核 (Kernel)?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1991年由林納斯·托瓦茲 (Linus Torvalds) 首次發布的最核心軟體部分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遵循 GPL 協議，任何個人和機構均可自由獲取源碼並修改發布</a:t>
            </a:r>
          </a:p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世界上 500 台最快超級電腦與所有 Android 手機均基於 Linux 內核！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常用 Linux 發行版本 (Distributions)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Linux 內核加上不同軟體包，打包成不同發行版 (Distros)：</a:t>
            </a:r>
          </a:p>
          <a:p>
            <a:pPr>
              <a:spcAft>
                <a:spcPts val="14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  • Ubuntu：全球雲端最受歡迎的發行版，軟體豐富、更新迅速（本課程專用）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Debian：以極致穩定著稱，Ubuntu 的底層血統來源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Red Hat Enterprise Linux / Rocky / CentOS：傳統金融外企首選商業伺服器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Kali Linux：網絡安全專家與黑客攻防首選發行版</a:t>
            </a:r>
          </a:p>
          <a:p>
            <a:pPr>
              <a:spcAft>
                <a:spcPts val="14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吉祥物：可愛的企鵝 Tux 🐧 象徵自由、開放與分享！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🤖 Boss AI 賦能：AI CLI Helper 告別黑框恐懼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初學者敲命令行最害怕看見：Permission denied 或 command not found</a:t>
            </a:r>
          </a:p>
          <a:p>
            <a:pPr>
              <a:spcAft>
                <a:spcPts val="1400"/>
              </a:spcAft>
              <a:defRPr sz="2200" b="0">
                <a:solidFill>
                  <a:srgbClr val="DE5D49"/>
                </a:solidFill>
                <a:latin typeface="Microsoft JhengHei"/>
              </a:defRPr>
            </a:pPr>
            <a:r>
              <a:t>■ 傳統教學：學生舉手等老師來解決，一個班 30 人老師忙不過來</a:t>
            </a:r>
          </a:p>
          <a:p>
            <a:pPr>
              <a:spcAft>
                <a:spcPts val="1400"/>
              </a:spcAft>
              <a:defRPr sz="2600" b="1">
                <a:solidFill>
                  <a:srgbClr val="10B981"/>
                </a:solidFill>
                <a:latin typeface="Microsoft JhengHei"/>
              </a:defRPr>
            </a:pPr>
            <a:r>
              <a:t>■ AI 時代現代解法：Microsoft Copilot Web 充當全天候私人助教！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使用示範 Prompt：</a:t>
            </a:r>
          </a:p>
          <a:p>
            <a:pPr>
              <a:spcAft>
                <a:spcPts val="14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■   "Please explain the Linux command 'uname -a' in simple Chinese for a Form 3 student, and explain what each parameter represents."</a:t>
            </a:r>
          </a:p>
          <a:p>
            <a:pPr>
              <a:spcAft>
                <a:spcPts val="14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Copilot 立即用通俗語言拆解參數，消除學生的技術挫敗感！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🤖 鐵律例程：Predict → Paste → Test →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嚴格杜絕中學生無腦複製粘貼 AI 代碼的偷懶習慣：</a:t>
            </a:r>
          </a:p>
          <a:p>
            <a:pPr>
              <a:spcAft>
                <a:spcPts val="1400"/>
              </a:spcAft>
              <a:defRPr sz="2600" b="1">
                <a:solidFill>
                  <a:srgbClr val="DE5D49"/>
                </a:solidFill>
                <a:latin typeface="Microsoft JhengHei"/>
              </a:defRPr>
            </a:pPr>
            <a:r>
              <a:t>■ 課堂四步防偷懶驗證法：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1. Predict (預判)：向 AI 提問前，先猜測這行命令會輸出什麼（文件夾？還是報錯？）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2. Paste (粘貼)：將 AI 給出的建議代碼貼入終端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3. Test (測試)：按下回車執行，觀察真實回顯是否符合預期</a:t>
            </a:r>
          </a:p>
          <a:p>
            <a:pPr>
              <a:spcAft>
                <a:spcPts val="1400"/>
              </a:spcAft>
              <a:defRPr sz="2000" b="1">
                <a:solidFill>
                  <a:srgbClr val="1E40AF"/>
                </a:solidFill>
                <a:latin typeface="Microsoft JhengHei"/>
              </a:defRPr>
            </a:pPr>
            <a:r>
              <a:t>■   4. Explain (原理解釋)：在實驗紙上記錄「這行命令為什麼解決了問題」</a:t>
            </a:r>
          </a:p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核心理念：AI 是你的副駕駛，人類工程師永遠是掌控方向盤的主駕駛！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動手實操工作坊：Lab 01 任務概覽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今天每位同學都要親自進入真實的 Ubuntu Linux 終端：</a:t>
            </a:r>
          </a:p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四大實驗里程碑：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1. 系統硬體偵測：運行 uname -a 與 lscpu 摸清伺服器底細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2. 當前位置與文件列表：運行 pwd 與 ls -l 掌握目錄空間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3. 專案目錄樹建立：使用 mkdir 創建課堂規定結構樹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4. 互聯網連通性測試：運行 ping www.google.com 檢測延遲</a:t>
            </a:r>
          </a:p>
          <a:p>
            <a:pPr>
              <a:spcAft>
                <a:spcPts val="14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  5. [全新增設] 填寫工作紙末尾的 AI 提示詞與驗證記錄！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常用 Linux 核心命令速查卡片 (Cheatsheet)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命令與功能速查：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uname -a ➔ Print system info (打印操作系統內核與 x86_64 架構)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lscpu ➔ List CPU info (查看 CPU 型號、主頻與核心數)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pwd ➔ Print Working Directory (我現在在哪個文件夾？)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ls -l ➔ List files (詳細列出當前目錄所有文件與權限)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cd Downloads ➔ Change directory (切換進入下載文件夾)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mkdir -p Documents/SEED ➔ Make directory (創建新文件夾樹)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ping -c 3 www.google.com ➔ 測試到目標網站的網絡延遲與丟包率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📝 60/40 考核合規：Lab 01 附加驗證填寫示範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港大 QF2 官方 60/40 考核結構 100% 保持不變，工作紙末尾增設一欄：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【學員填寫範例】：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你向 Copilot 提出的 Prompt：</a:t>
            </a:r>
          </a:p>
          <a:p>
            <a:pPr>
              <a:spcAft>
                <a:spcPts val="1400"/>
              </a:spcAft>
              <a:defRPr sz="1800" b="0">
                <a:solidFill>
                  <a:srgbClr val="FFCE2B"/>
                </a:solidFill>
                <a:latin typeface="Microsoft JhengHei"/>
              </a:defRPr>
            </a:pPr>
            <a:r>
              <a:t>■     "What is the difference between 'ls' and 'ls -la' in Linux?"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AI 給出的解釋摘要：</a:t>
            </a:r>
          </a:p>
          <a:p>
            <a:pPr>
              <a:spcAft>
                <a:spcPts val="14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■     "-a 參數會顯示以點開頭的隱藏檔案，-l 會以長格式顯示文件權限與大小。"</a:t>
            </a:r>
          </a:p>
          <a:p>
            <a:pPr>
              <a:spcAft>
                <a:spcPts val="14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  • 你的終端驗證命令 (Verification Command)：</a:t>
            </a:r>
          </a:p>
          <a:p>
            <a:pPr>
              <a:spcAft>
                <a:spcPts val="14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■     "我在終端執行了 ls -la，發現多出了 .bashrc 隱藏文件，驗證了 AI 的說法。"</a:t>
            </a:r>
          </a:p>
          <a:p>
            <a:pPr>
              <a:spcAft>
                <a:spcPts val="14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意義：向評審員證明學生不是被動抄襲，而是用代碼審查 AI！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考題實戰：HKDSE ICT 歷屆真題直擊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模擬香港考評局 DSE ICT 考卷真題：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「某中學計劃將學校圖書館系統從校內機房遷移至公有雲平台：</a:t>
            </a:r>
          </a:p>
          <a:p>
            <a:pPr>
              <a:spcAft>
                <a:spcPts val="1400"/>
              </a:spcAft>
              <a:defRPr sz="2000" b="0">
                <a:solidFill>
                  <a:srgbClr val="1E40AF"/>
                </a:solidFill>
                <a:latin typeface="Microsoft JhengHei"/>
              </a:defRPr>
            </a:pPr>
            <a:r>
              <a:t>■  (a) 試從『初始成本』與『擴展性』兩方面，說明使用 IaaS 的優勢。（4分）」</a:t>
            </a:r>
          </a:p>
          <a:p>
            <a:pPr>
              <a:spcAft>
                <a:spcPts val="1400"/>
              </a:spcAft>
              <a:defRPr sz="2000" b="1">
                <a:solidFill>
                  <a:srgbClr val="42413D"/>
                </a:solidFill>
                <a:latin typeface="Microsoft JhengHei"/>
              </a:defRPr>
            </a:pPr>
            <a:r>
              <a:t>■   滿分答案要點：</a:t>
            </a:r>
          </a:p>
          <a:p>
            <a:pPr>
              <a:spcAft>
                <a:spcPts val="14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■   • 初始成本：免去購買物理伺服器的大筆資本支出 (Capex)，轉為即付即用營運支出 (Opex)。</a:t>
            </a:r>
          </a:p>
          <a:p>
            <a:pPr>
              <a:spcAft>
                <a:spcPts val="14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■   • 擴展性：IaaS 具備彈性 (Scalability)，借書高峰期可秒級擴展算力，閒置時縮減以省成本。</a:t>
            </a:r>
          </a:p>
          <a:p>
            <a:pPr>
              <a:spcAft>
                <a:spcPts val="1400"/>
              </a:spcAft>
              <a:defRPr sz="2000" b="0">
                <a:solidFill>
                  <a:srgbClr val="1E40AF"/>
                </a:solidFill>
                <a:latin typeface="Microsoft JhengHei"/>
              </a:defRPr>
            </a:pPr>
            <a:r>
              <a:t>■ 「(b) 若校方不想自行管理操作系統補丁，只希望上傳校本圖書代碼，應選 IaaS 還是 PaaS？（2分）」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  <a:latin typeface="Microsoft JhengHei"/>
              </a:defRPr>
            </a:pPr>
            <a:r>
              <a:t>■   滿分答案：應選 PaaS。因為 PaaS 由雲商全託管 OS 與運行環境，校方只需專注代碼本身。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本課大總結 (Summary &amp; Key Takeaways)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一個轉變：從自建屋頂水箱 (On-Premises) 走向市政自來水管網 (Cloud Resources)</a:t>
            </a:r>
          </a:p>
          <a:p>
            <a:pPr>
              <a:spcAft>
                <a:spcPts val="14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三大類別：披薩模型 (Pizza-as-a-Service)</a:t>
            </a:r>
          </a:p>
          <a:p>
            <a:pPr>
              <a:spcAft>
                <a:spcPts val="1400"/>
              </a:spcAft>
              <a:defRPr sz="2000" b="0">
                <a:solidFill>
                  <a:srgbClr val="FFCE2B"/>
                </a:solidFill>
                <a:latin typeface="Microsoft JhengHei"/>
              </a:defRPr>
            </a:pPr>
            <a:r>
              <a:t>■   • IaaS (外帶生披薩自己烤) ➔ 管底層，控全盤</a:t>
            </a:r>
          </a:p>
          <a:p>
            <a:pPr>
              <a:spcAft>
                <a:spcPts val="14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  • PaaS (外賣熱披薩送到家) ➔ 帶代碼來，免運維</a:t>
            </a:r>
          </a:p>
          <a:p>
            <a:pPr>
              <a:spcAft>
                <a:spcPts val="14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  • SaaS (Pizza Hut 堂食吃披薩) ➔ 點開即用，全託管</a:t>
            </a:r>
          </a:p>
          <a:p>
            <a:pPr>
              <a:spcAft>
                <a:spcPts val="14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一個法則：Predict → Paste → Test → Explain，用命令驗證 AI！</a:t>
            </a:r>
          </a:p>
          <a:p>
            <a:pPr>
              <a:spcAft>
                <a:spcPts val="1400"/>
              </a:spcAft>
              <a:defRPr sz="2600" b="1">
                <a:solidFill>
                  <a:srgbClr val="10B981"/>
                </a:solidFill>
                <a:latin typeface="Microsoft JhengHei"/>
              </a:defRPr>
            </a:pPr>
            <a:r>
              <a:t>■ 一個起點：學好 Linux CLI 基本功，成為具備真實落地能力的雲架構師！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下節預告：第 2 課 現代軟件堆棧與系統管理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E40AF"/>
                </a:solidFill>
                <a:latin typeface="Microsoft JhengHei"/>
              </a:defRPr>
            </a:pPr>
            <a: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下一講精彩看點 (Deck 02)：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解剖 Web 伺服器與數據庫的中樞神經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親手使用 apt 安裝 Nginx 網頁引擎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深入學習 systemctl 服務啟動、重啟與狀態監控</a:t>
            </a:r>
          </a:p>
          <a:p>
            <a:pPr>
              <a:spcAft>
                <a:spcPts val="14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  • 排查端口佔用與查看伺服器實時運行日誌</a:t>
            </a:r>
          </a:p>
          <a:p>
            <a:pPr>
              <a:spcAft>
                <a:spcPts val="1400"/>
              </a:spcAft>
              <a:defRPr sz="2800" b="1">
                <a:solidFill>
                  <a:srgbClr val="10B981"/>
                </a:solidFill>
                <a:latin typeface="Microsoft JhengHei"/>
              </a:defRPr>
            </a:pPr>
            <a:r>
              <a:t>■ 感謝大家！請大家打開電腦，開始我們的 Lab 01 實操！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