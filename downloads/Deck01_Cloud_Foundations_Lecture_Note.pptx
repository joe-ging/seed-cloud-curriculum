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282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82880" cy="5029200"/>
          </a:xfrm>
          <a:prstGeom prst="rect">
            <a:avLst/>
          </a:prstGeom>
          <a:solidFill>
            <a:srgbClr val="FFC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601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CE2B"/>
                </a:solidFill>
                <a:latin typeface="Microsoft JhengHei"/>
              </a:defRPr>
            </a:pPr>
            <a:r>
              <a:t>第二單元 基礎雲計算技術 (QF Level 2 認證單元)</a:t>
            </a:r>
          </a:p>
          <a:p>
            <a:pPr>
              <a:spcBef>
                <a:spcPts val="1600"/>
              </a:spcBef>
              <a:defRPr sz="5200" b="1">
                <a:solidFill>
                  <a:srgbClr val="FFFFFF"/>
                </a:solidFill>
                <a:latin typeface="Microsoft JhengHei"/>
              </a:defRPr>
            </a:pPr>
            <a:r>
              <a:t>第 1 課：雲服務類別與架構基石</a:t>
            </a:r>
          </a:p>
          <a:p>
            <a:pPr>
              <a:spcBef>
                <a:spcPts val="2000"/>
              </a:spcBef>
              <a:defRPr sz="2200">
                <a:solidFill>
                  <a:srgbClr val="CBD5E1"/>
                </a:solidFill>
                <a:latin typeface="Microsoft JhengHei"/>
              </a:defRPr>
            </a:pPr>
            <a:r>
              <a:t>解密場所資源 vs 雲資源 · 披薩模型 (Pizza-as-a-Service) · AI 現代運維</a:t>
            </a:r>
          </a:p>
          <a:p>
            <a:pPr>
              <a:spcBef>
                <a:spcPts val="4000"/>
              </a:spcBef>
              <a:defRPr sz="1600" b="1">
                <a:solidFill>
                  <a:srgbClr val="10B981"/>
                </a:solidFill>
                <a:latin typeface="Microsoft JhengHei"/>
              </a:defRPr>
            </a:pPr>
            <a:r>
              <a:t>SEED Foundation × 香港大學專業進修學院 (HKU SPACE)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雲服務類別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深入了解 IaaS</a:t>
            </a:r>
          </a:p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什麼是場所資源？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操作系統簡介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認識 Linux 操作系統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AI 時代現代賦能：AI CLI Helper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動手實操：Ubuntu 終端機操作 (Lab 01)</a:t>
            </a:r>
          </a:p>
        </p:txBody>
      </p:sp>
      <p:pic>
        <p:nvPicPr>
          <p:cNvPr id="7" name="Picture 6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94960" cy="34583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課前前瞻：現代架構師如何工作？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傳統運維：在黑屏終端手敲數十行命令，耗時 20 分鐘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AI 原生架構師：人在香港教室，一句話下達指令</a:t>
            </a:r>
          </a:p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Google Antigravity Agent 自動化閉環：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現場生成高顏值氣象看板 (Hong Kong &amp; Tokyo)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自動 SSH 隧道推送到東京雲伺服器 (104.156.238.43)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驗證 Nginx 80 端口 HTTP 200 OK 連通</a:t>
            </a:r>
          </a:p>
          <a:p>
            <a:pPr>
              <a:spcAft>
                <a:spcPts val="12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學生拿出手機掃碼：即時訪問 https://jl-intelligence.net/weather.html！</a:t>
            </a:r>
          </a:p>
          <a:p>
            <a:pPr>
              <a:spcAft>
                <a:spcPts val="1200"/>
              </a:spcAft>
              <a:defRPr sz="2000" b="1">
                <a:solidFill>
                  <a:srgbClr val="DE5D49"/>
                </a:solidFill>
                <a:latin typeface="Microsoft JhengHei"/>
              </a:defRPr>
            </a:pPr>
            <a:r>
              <a:t>■ 思考：如果你不懂底層 Linux，你怎麼知道 AI 做得對不對？</a:t>
            </a:r>
          </a:p>
        </p:txBody>
      </p:sp>
      <p:pic>
        <p:nvPicPr>
          <p:cNvPr id="7" name="Picture 6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課前思考題：一所學校的難題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假設學校下個月突發活動，需要為 500 位新生每人配置一台高性能電腦：</a:t>
            </a:r>
          </a:p>
          <a:p>
            <a:pPr>
              <a:spcAft>
                <a:spcPts val="12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學校如果親自去腦場下單購買、運送、組裝、拉電線，來得及嗎？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採購與物流等待：至少需要 2 ~ 4 週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機房空間與供電：沒有多餘房間，電錶跳閘，散熱不足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資金浪費：活動結束後，500 台電腦閒置在機房積灰塵</a:t>
            </a:r>
          </a:p>
          <a:p>
            <a:pPr>
              <a:spcAft>
                <a:spcPts val="12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傳統「場所資源 (On-Premises)」的致命弱點：笨重、遲緩、缺乏彈性！</a:t>
            </a:r>
          </a:p>
        </p:txBody>
      </p:sp>
      <p:pic>
        <p:nvPicPr>
          <p:cNvPr id="7" name="Picture 6" descr="page_1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21208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場所運算設備 Premise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在雲服務投入市場之前，企業建立電腦設備時，需為服務器 (servers) 自設存放空間，一般稱為 Server 房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存放於自家 server 房的運算設備稱為：</a:t>
            </a:r>
          </a:p>
          <a:p>
            <a:pPr>
              <a:spcAft>
                <a:spcPts val="1200"/>
              </a:spcAft>
              <a:defRPr sz="2600" b="1">
                <a:solidFill>
                  <a:srgbClr val="FFCE2B"/>
                </a:solidFill>
                <a:latin typeface="Microsoft JhengHei"/>
              </a:defRPr>
            </a:pPr>
            <a:r>
              <a:t>■ 場所運算設備，或場所資源 (Premise Resources)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包含伺服器機架、網絡交換機、路由器、防火牆、UPS 電源</a:t>
            </a:r>
          </a:p>
          <a:p>
            <a:pPr>
              <a:spcAft>
                <a:spcPts val="1200"/>
              </a:spcAft>
              <a:defRPr sz="2200" b="1">
                <a:solidFill>
                  <a:srgbClr val="DE5D49"/>
                </a:solidFill>
                <a:latin typeface="Microsoft JhengHei"/>
              </a:defRPr>
            </a:pPr>
            <a:r>
              <a:t>■ 企業對這間機房內的一磚一瓦負 100% 的維護責任！</a:t>
            </a:r>
          </a:p>
        </p:txBody>
      </p:sp>
      <p:pic>
        <p:nvPicPr>
          <p:cNvPr id="7" name="Picture 6" descr="page_2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079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生活化比喻：唐樓樓頂的自建水箱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想像你的學校不依賴市政供水，而是在天台自建一個巨大的蓄水鐵皮箱：</a:t>
            </a:r>
          </a:p>
          <a:p>
            <a:pPr>
              <a:spcAft>
                <a:spcPts val="1200"/>
              </a:spcAft>
              <a:defRPr sz="2000" b="0">
                <a:solidFill>
                  <a:srgbClr val="DE5D49"/>
                </a:solidFill>
                <a:latin typeface="Microsoft JhengHei"/>
              </a:defRPr>
            </a:pPr>
            <a:r>
              <a:t>■ 高昂初始投資 (Capex)：先掏幾萬塊買水箱、請吊車吊上天台、雇工接管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沉重日常運維：定期爬樓梯清洗水垢、檢查鐵鏽、更換老化水閥</a:t>
            </a:r>
          </a:p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容量被物理鎖死：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水箱裝 500 升就是 500 升，平時用不完是浪費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DE5D49"/>
                </a:solidFill>
                <a:latin typeface="Microsoft JhengHei"/>
              </a:defRPr>
            </a:pPr>
            <a:r>
              <a:t>– 遇到 50 個客人同時洗澡，水箱瞬間抽乾，毫無彈性！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這就是 On-Premises：前期貴、運維苦、容量死板！</a:t>
            </a:r>
          </a:p>
        </p:txBody>
      </p:sp>
      <p:pic>
        <p:nvPicPr>
          <p:cNvPr id="7" name="Picture 6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中小企業的場所資源常常不夠專業，管理水平低，對企業的 e-commerce 業務造成巨大衝擊</a:t>
            </a:r>
          </a:p>
          <a:p>
            <a:pPr>
              <a:spcAft>
                <a:spcPts val="12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有些小企業的 server 房甚至混亂不堪，最後甚至演變成雜物房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香港寸金尺土：中環、觀塘寫字樓每平方呎租金昂貴，放伺服器每月光租金就要上萬港幣！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週末關閉中央空調，伺服器頻繁過熱死機；雜工踢掉插頭，全公司電郵瞬間癱瘓</a:t>
            </a:r>
          </a:p>
        </p:txBody>
      </p:sp>
      <p:pic>
        <p:nvPicPr>
          <p:cNvPr id="7" name="Picture 6" descr="page_1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什麼是雲資源 (Cloud Resources)？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雲資源是由大型雲供應商在全球數據中心管理的運算硬體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客戶無需購買硬體，僅透過互聯網以租用形式獲取運算力與存儲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生活化比喻：市政自來水管網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家裡不需要樓頂水箱，只需接通市政自來水管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扭開水龍頭就有水，水廠專業團隊 24/7 監控水質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隨意用水，用多少付多少 (即付即用 Pay-as-you-go)</a:t>
            </a:r>
          </a:p>
          <a:p>
            <a:pPr lvl="1">
              <a:spcAft>
                <a:spcPts val="1200"/>
              </a:spcAft>
              <a:defRPr sz="1800" b="1">
                <a:solidFill>
                  <a:srgbClr val="42413D"/>
                </a:solidFill>
                <a:latin typeface="Microsoft JhengHei"/>
              </a:defRPr>
            </a:pPr>
            <a:r>
              <a:t>– 派對用水全開也有水，全港水塘容量無限！</a:t>
            </a:r>
          </a:p>
        </p:txBody>
      </p:sp>
      <p:pic>
        <p:nvPicPr>
          <p:cNvPr id="7" name="Picture 6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大型 IaaS 供應商於全球多地設有規模極為龐大的數據中心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以高速跨國光纖網絡互聯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具備雙路電網冗餘備份、柴油發電機與軍工級安全門禁</a:t>
            </a:r>
          </a:p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這種基建規模，不是一般公司可以自己一手架構的！</a:t>
            </a:r>
          </a:p>
        </p:txBody>
      </p:sp>
      <p:pic>
        <p:nvPicPr>
          <p:cNvPr id="7" name="Picture 6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全球四大主流 IaaS 雲巨頭：</a:t>
            </a:r>
          </a:p>
          <a:p>
            <a:pPr>
              <a:spcAft>
                <a:spcPts val="1200"/>
              </a:spcAft>
              <a:defRPr sz="2200" b="0">
                <a:solidFill>
                  <a:srgbClr val="FFCE2B"/>
                </a:solidFill>
                <a:latin typeface="Microsoft JhengHei"/>
              </a:defRPr>
            </a:pPr>
            <a:r>
              <a:t>■ Amazon Web Services (AWS)</a:t>
            </a:r>
          </a:p>
          <a:p>
            <a:pPr>
              <a:spcAft>
                <a:spcPts val="1200"/>
              </a:spcAft>
              <a:defRPr sz="2200" b="0">
                <a:solidFill>
                  <a:srgbClr val="1E40AF"/>
                </a:solidFill>
                <a:latin typeface="Microsoft JhengHei"/>
              </a:defRPr>
            </a:pPr>
            <a:r>
              <a:t>■ Alibaba Cloud (阿里雲)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Microsoft Azure (微軟雲)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Google Cloud Platform (GCP)</a:t>
            </a:r>
          </a:p>
          <a:p>
            <a:pPr>
              <a:spcAft>
                <a:spcPts val="12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新一代邊緣雲：Cloudflare (無伺服器與邊緣加速)</a:t>
            </a:r>
          </a:p>
        </p:txBody>
      </p:sp>
      <p:pic>
        <p:nvPicPr>
          <p:cNvPr id="7" name="Picture 6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120640" cy="31511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什麼是基建 (Computing Infrastructure)？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電腦運算基建是指提供數據運算的相關電腦設備集合</a:t>
            </a:r>
          </a:p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由一系列不同的設備組成：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服務器 (Server) 和虛擬機 (Virtual Machine，簡稱 VM)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存儲設備 (Storage) 與磁盤陣列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網絡服務 (Networking) 與光纖互聯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操作系統鏡像等 (OS Images)</a:t>
            </a:r>
          </a:p>
          <a:p>
            <a:pPr>
              <a:spcAft>
                <a:spcPts val="12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IaaS 讓客戶以即付即用方式租用運算設備，省卻自購費用，資源配置更靈活</a:t>
            </a:r>
          </a:p>
        </p:txBody>
      </p:sp>
      <p:pic>
        <p:nvPicPr>
          <p:cNvPr id="7" name="Picture 6" descr="page_2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120640" cy="26803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現代軟件組件與服務 (Software Stack)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當我們構建任何網站或 App，它絕不是孤立代碼，而是 5 層緊密協同的技術棧：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[Layer 5] 應用程序 Application：前台網頁界面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[Layer 4] 數據庫 Database：記錄用戶帳號與訂單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[Layer 3] 運行時 Runtime：代碼執行環境 (Node/Python)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[Layer 2] 操作系統 OS：調度硬體資源 (Linux)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[Layer 1] 物理硬體 Hardware：伺服器晶片與網卡</a:t>
            </a:r>
          </a:p>
          <a:p>
            <a:pPr>
              <a:spcAft>
                <a:spcPts val="12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雲服務商能為我們託管這 5 層中的哪幾層？引出三大雲服務類別！</a:t>
            </a:r>
          </a:p>
        </p:txBody>
      </p:sp>
      <p:pic>
        <p:nvPicPr>
          <p:cNvPr id="7" name="Picture 6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雲服務類別 (Cloud Service Categories)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 b="1">
                <a:solidFill>
                  <a:srgbClr val="42413D"/>
                </a:solidFill>
                <a:latin typeface="Microsoft JhengHei"/>
              </a:defRPr>
            </a:pPr>
            <a:r>
              <a:t>■ 三大主流服務類別：</a:t>
            </a:r>
          </a:p>
          <a:p>
            <a:pPr>
              <a:spcAft>
                <a:spcPts val="1200"/>
              </a:spcAft>
              <a:defRPr sz="2200" b="1">
                <a:solidFill>
                  <a:srgbClr val="FFCE2B"/>
                </a:solidFill>
                <a:latin typeface="Microsoft JhengHei"/>
              </a:defRPr>
            </a:pPr>
            <a:r>
              <a:t>■ IaaS (Infrastructure as a Service) 基建即服務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例子：Amazon Web Services、Alibaba Cloud</a:t>
            </a:r>
          </a:p>
          <a:p>
            <a:pPr>
              <a:spcAft>
                <a:spcPts val="12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PaaS (Platform as a Service) 平台即服務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例子：Google App Engine、Cloudflare Workers</a:t>
            </a:r>
          </a:p>
          <a:p>
            <a:pPr>
              <a:spcAft>
                <a:spcPts val="12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SaaS (Software as a Service) 軟件即服務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例子：Microsoft 365、Google Workspace、Netflix</a:t>
            </a:r>
          </a:p>
        </p:txBody>
      </p:sp>
      <p:pic>
        <p:nvPicPr>
          <p:cNvPr id="7" name="Picture 6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3996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🍕 經典神級比喻：披薩即服務 (Pizza-as-a-Service)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吃披薩有 4 種方式，完美對應 4 種 IT 架構：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1. 自製披薩 (Traditional On-Premises)：面粉、烤爐、餐桌、飲料全部自己包辦！</a:t>
            </a:r>
          </a:p>
          <a:p>
            <a:pPr>
              <a:spcAft>
                <a:spcPts val="1200"/>
              </a:spcAft>
              <a:defRPr sz="2000" b="1">
                <a:solidFill>
                  <a:srgbClr val="FFCE2B"/>
                </a:solidFill>
                <a:latin typeface="Microsoft JhengHei"/>
              </a:defRPr>
            </a:pPr>
            <a:r>
              <a:t>■ 2. 外帶生披薩自己烤 (IaaS)：店家提供現成餅底和起司，回家自己用烤箱烤熟！</a:t>
            </a:r>
          </a:p>
          <a:p>
            <a:pPr>
              <a:spcAft>
                <a:spcPts val="1200"/>
              </a:spcAft>
              <a:defRPr sz="2000" b="1">
                <a:solidFill>
                  <a:srgbClr val="1E40AF"/>
                </a:solidFill>
                <a:latin typeface="Microsoft JhengHei"/>
              </a:defRPr>
            </a:pPr>
            <a:r>
              <a:t>■ 3. 外賣熟披薩送上門 (PaaS)：店家烤熟送到家，你只需備好餐桌飲料開吃！</a:t>
            </a:r>
          </a:p>
          <a:p>
            <a:pPr>
              <a:spcAft>
                <a:spcPts val="1200"/>
              </a:spcAft>
              <a:defRPr sz="2000" b="1">
                <a:solidFill>
                  <a:srgbClr val="10B981"/>
                </a:solidFill>
                <a:latin typeface="Microsoft JhengHei"/>
              </a:defRPr>
            </a:pPr>
            <a:r>
              <a:t>■ 4. Pizza Hut 堂食 (SaaS)：穿鞋進餐廳坐下就吃，抹嘴走人，全包！</a:t>
            </a:r>
          </a:p>
        </p:txBody>
      </p:sp>
      <p:pic>
        <p:nvPicPr>
          <p:cNvPr id="7" name="Picture 6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3996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IaaS (Infrastructure as a Service) 基建即服務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將電腦運算的基建設備以租用形式提供給雲客戶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IaaS 是最基本的雲計算服務類別</a:t>
            </a:r>
          </a:p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大升級設備管理水平：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幫助企業減少本地場所資源的初始投放成本 (Capex)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省卻硬件 (Hardware) 投資與折舊風險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– 靈活根據業務需要輕鬆擴展和縮減規模 (Scalability 彈性伸縮)</a:t>
            </a:r>
          </a:p>
        </p:txBody>
      </p:sp>
      <p:pic>
        <p:nvPicPr>
          <p:cNvPr id="7" name="Picture 6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Internet 上的電腦設備被分為兩種角色：</a:t>
            </a:r>
          </a:p>
          <a:p>
            <a:pPr>
              <a:spcAft>
                <a:spcPts val="12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客戶端 (Client)：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日常個人使用的電腦、平板電腦、智能手機等設備</a:t>
            </a:r>
          </a:p>
          <a:p>
            <a:pPr>
              <a:spcAft>
                <a:spcPts val="1200"/>
              </a:spcAft>
              <a:defRPr sz="2200" b="1">
                <a:solidFill>
                  <a:srgbClr val="FFCE2B"/>
                </a:solidFill>
                <a:latin typeface="Microsoft JhengHei"/>
              </a:defRPr>
            </a:pPr>
            <a:r>
              <a:t>■ 服務器 (Server / Host)：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為客戶端提供各種互聯網服務的設備，也稱為伺服器或主機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通常運行於專用數據中心，24/7 不斷電為數千人提供服務！</a:t>
            </a:r>
          </a:p>
        </p:txBody>
      </p:sp>
      <p:pic>
        <p:nvPicPr>
          <p:cNvPr id="7" name="Picture 6" descr="page_1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94960" cy="32369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服務器因應不同需求而安裝各種不同服務器軟件：</a:t>
            </a:r>
          </a:p>
          <a:p>
            <a:pPr>
              <a:spcAft>
                <a:spcPts val="1200"/>
              </a:spcAft>
              <a:defRPr sz="2000" b="1">
                <a:solidFill>
                  <a:srgbClr val="10B981"/>
                </a:solidFill>
                <a:latin typeface="Microsoft JhengHei"/>
              </a:defRPr>
            </a:pPr>
            <a:r>
              <a:t>■ 網頁服務器 (Nginx, Apache)：分發網頁 HTML/CSS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數據庫服務器 (MySQL, MariaDB)：儲存用戶帳號資料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電郵服務器 (Mail Server)：收發郵件</a:t>
            </a:r>
          </a:p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服務器往往需要較高的硬體配置：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較高速的處理器 (CPU)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較大的內存 (Main Memory RAM)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充足的網絡頻寬 (Network Bandwidth)</a:t>
            </a:r>
          </a:p>
        </p:txBody>
      </p:sp>
      <p:pic>
        <p:nvPicPr>
          <p:cNvPr id="7" name="Picture 6" descr="page_1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雲供應商提供的服務器種類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雲供應商提供的服務器可分為兩大形態：</a:t>
            </a:r>
          </a:p>
          <a:p>
            <a:pPr>
              <a:spcAft>
                <a:spcPts val="1200"/>
              </a:spcAft>
              <a:defRPr sz="2200" b="1">
                <a:solidFill>
                  <a:srgbClr val="FFCE2B"/>
                </a:solidFill>
                <a:latin typeface="Microsoft JhengHei"/>
              </a:defRPr>
            </a:pPr>
            <a:r>
              <a:t>■ Bare Metal Server 裸金屬服務器：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專屬的服務器，完全獨立的電腦硬件裝備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由一個客戶獨享整台硬體，私密度與性能最高</a:t>
            </a:r>
          </a:p>
          <a:p>
            <a:pPr>
              <a:spcAft>
                <a:spcPts val="12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Virtual Machine 虛擬服務器 (虛擬主機 VM)：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由多個客戶共同分享底層運算硬件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費用親民，彈性秒開！</a:t>
            </a:r>
          </a:p>
        </p:txBody>
      </p:sp>
      <p:pic>
        <p:nvPicPr>
          <p:cNvPr id="7" name="Picture 6" descr="page_1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5342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Bare Metal Server 裸金屬服務器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Bare Metal 服務器是指沒有安裝虛擬化軟件的純物理電腦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完全獨立的電腦硬件裝備，該服務器由單一客戶獨自使用而不共享</a:t>
            </a:r>
          </a:p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核心優勢：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– 有極高的數據私密性與法規合規性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有最高的硬體使用自主權，無性能損耗</a:t>
            </a:r>
          </a:p>
          <a:p>
            <a:pPr>
              <a:spcAft>
                <a:spcPts val="1200"/>
              </a:spcAft>
              <a:defRPr sz="2200" b="0">
                <a:solidFill>
                  <a:srgbClr val="DE5D49"/>
                </a:solidFill>
                <a:latin typeface="Microsoft JhengHei"/>
              </a:defRPr>
            </a:pPr>
            <a:r>
              <a:t>■ 缺點：租用費用較高，擴展速度慢於虛擬機</a:t>
            </a:r>
          </a:p>
        </p:txBody>
      </p:sp>
      <p:pic>
        <p:nvPicPr>
          <p:cNvPr id="7" name="Picture 6" descr="page_1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5342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虛擬主機 Virtual Host &amp; Hypervisor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電腦上安裝了虛擬機器監視器 (Hypervisor / VMM)：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如：VMWare、VirtualBox 或企業級 KVM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在虛擬機器監視器的基礎上，創建多個虛擬服務器 (Virtual Machines)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供多個客戶共享底層運算硬件資源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費用較低，幾十秒即可在雲端創建一台全新的伺服器！</a:t>
            </a:r>
          </a:p>
        </p:txBody>
      </p:sp>
      <p:pic>
        <p:nvPicPr>
          <p:cNvPr id="7" name="Picture 6" descr="page_20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61747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Bare Metal vs. VM 核心對決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獨棟別墅 vs. 青年公寓：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Bare Metal 像整棟別墅：整棟樓只有你一個人住，水電獨占，沒人打擾，但租金極貴</a:t>
            </a:r>
          </a:p>
          <a:p>
            <a:pPr>
              <a:spcAft>
                <a:spcPts val="1200"/>
              </a:spcAft>
              <a:defRPr sz="2000" b="0">
                <a:solidFill>
                  <a:srgbClr val="10B981"/>
                </a:solidFill>
                <a:latin typeface="Microsoft JhengHei"/>
              </a:defRPr>
            </a:pPr>
            <a:r>
              <a:t>■ Virtual Machine 像青年公寓：整棟大樓被隔斷牆 (Hypervisor) 切成獨立套房，共享地基，性價比高！</a:t>
            </a:r>
          </a:p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90% 的普通網站與學生實操均採用 VM 虛擬機！</a:t>
            </a:r>
          </a:p>
        </p:txBody>
      </p:sp>
      <p:pic>
        <p:nvPicPr>
          <p:cNvPr id="7" name="Picture 6" descr="page_21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6484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什麼是操作系統 (Operating System)?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OS = Operating System 電腦操作系統（電腦作業系統）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電腦系統的核心與基石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主管並控制電腦硬件、軟件資源的運用和執行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提供使用者互動界面 (GUI 或 CLI)</a:t>
            </a:r>
          </a:p>
          <a:p>
            <a:pPr>
              <a:spcAft>
                <a:spcPts val="12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由一系列核心程序組成，沒有操作系統，電腦只是一堆廢鐵！</a:t>
            </a:r>
          </a:p>
        </p:txBody>
      </p:sp>
      <p:pic>
        <p:nvPicPr>
          <p:cNvPr id="7" name="Picture 6" descr="page_2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78475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Microsoft Windows：最多個人使用，提供個人版與 Windows Server</a:t>
            </a:r>
          </a:p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Linux：靈感源於 Unix，最多黑客與伺服器使用，開源免費！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Apple macOS：靈感源於 BSD Unix，開發者與創作人首選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Unix：歷史最悠久的操作系統，70 年代貝爾實驗室開發，主要用於大企業</a:t>
            </a:r>
          </a:p>
        </p:txBody>
      </p:sp>
      <p:pic>
        <p:nvPicPr>
          <p:cNvPr id="7" name="Picture 6" descr="page_2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個人使用的操作系統 vs 伺服器專用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個人電腦 OS：以視覺化圖像界面 (GUI) 先行，迎合日常工作，消耗大量資源，並不適合作為伺服器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伺服器專用的操作系統：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安裝並運行特定伺服器軟件 (Nginx, MariaDB)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– 不需要圖像化界面，避免消耗不必要的運算資源與頻寬</a:t>
            </a:r>
          </a:p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存放在數據中心的伺服器根本不接顯示器，管理員以遠程命令行 (CLI) 進行操作！</a:t>
            </a:r>
          </a:p>
        </p:txBody>
      </p:sp>
      <p:pic>
        <p:nvPicPr>
          <p:cNvPr id="7" name="Picture 6" descr="page_24_img_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伺服器外觀種類：座式 vs 架式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座式伺服器 (Tower Server)：外觀像大號電腦主機，適合辦公室角落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架式伺服器 (Rack Server)：厚度僅 1U/2U 的扁平機身，專為數據中心標準機櫃設計！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數據中心的機架上可以疊放數十台伺服器，極大節省空間與散熱管路</a:t>
            </a:r>
          </a:p>
        </p:txBody>
      </p:sp>
      <p:pic>
        <p:nvPicPr>
          <p:cNvPr id="7" name="Picture 6" descr="page_2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6113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數據中心的伺服器並不連接顯示器與滑鼠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走進真實的阿里雲或 AWS 數據中心，你看不到一台接顯示器的電腦！</a:t>
            </a:r>
          </a:p>
          <a:p>
            <a:pPr>
              <a:spcAft>
                <a:spcPts val="1200"/>
              </a:spcAft>
              <a:defRPr sz="2400" b="0">
                <a:solidFill>
                  <a:srgbClr val="FFCE2B"/>
                </a:solidFill>
                <a:latin typeface="Microsoft JhengHei"/>
              </a:defRPr>
            </a:pPr>
            <a:r>
              <a:t>■ 為什麼不接螢幕？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幾萬台伺服器接螢幕毫無意義，且極度浪費電力與空間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伺服器運行在無頭模式 (Headless Mode)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管理員坐在萬里之外的辦公室，通過網絡以 SSH 遙距連線並以命令行管理！</a:t>
            </a:r>
          </a:p>
        </p:txBody>
      </p:sp>
      <p:pic>
        <p:nvPicPr>
          <p:cNvPr id="7" name="Picture 6" descr="page_2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77606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伺服器遙距連線及命令行操作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管理員遠程連接伺服器的標準方式：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透過終端命令行界面 (Command Line Interface, 簡稱 CLI)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只需輸入純文本指令，消耗網絡頻寬極低，即使網絡信號差也能流暢管理！</a:t>
            </a:r>
          </a:p>
          <a:p>
            <a:pPr>
              <a:spcAft>
                <a:spcPts val="12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今天 Lab 01 我們將親身體驗這種黑底白字的工程師工作模式！</a:t>
            </a:r>
          </a:p>
        </p:txBody>
      </p:sp>
      <p:pic>
        <p:nvPicPr>
          <p:cNvPr id="7" name="Picture 6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6341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Windows Server 的局限性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微軟也提供 Windows Server 伺服器版本</a:t>
            </a:r>
          </a:p>
          <a:p>
            <a:pPr>
              <a:spcAft>
                <a:spcPts val="1200"/>
              </a:spcAft>
              <a:defRPr sz="2400" b="1">
                <a:solidFill>
                  <a:srgbClr val="DE5D49"/>
                </a:solidFill>
                <a:latin typeface="Microsoft JhengHei"/>
              </a:defRPr>
            </a:pPr>
            <a:r>
              <a:t>■ 但存在三大痛點：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昂貴的商業版權授權費 (License Fee)，大幅增加雲端租賃成本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依賴視覺化視窗操作，遠程 VNC/RDP 連線佔用大量網絡頻寬</a:t>
            </a:r>
          </a:p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系統開銷較大，因此雲端伺服器首選絕對是 Linux！</a:t>
            </a:r>
          </a:p>
        </p:txBody>
      </p:sp>
      <p:pic>
        <p:nvPicPr>
          <p:cNvPr id="7" name="Picture 6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Linux 操作系統：雲端伺服器的絕對王者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Linux 是全世界最受推薦的雲端伺服器操作系統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三大統治級優勢：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– 開源自由 (Open Source) 且完全免費，零版權稅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專為伺服器打造的版本 (Linux Server)，運行輕快穩定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以 SSH 加密協議進行遙距連線，極高安全保證</a:t>
            </a:r>
          </a:p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吉祥物：可愛的企鵝 Tux 🐧！</a:t>
            </a:r>
          </a:p>
        </p:txBody>
      </p:sp>
      <p:pic>
        <p:nvPicPr>
          <p:cNvPr id="7" name="Picture 6" descr="page_30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628183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什麼是 SSH (Secure Shell)?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 b="1">
                <a:solidFill>
                  <a:srgbClr val="1E40AF"/>
                </a:solidFill>
                <a:latin typeface="Microsoft JhengHei"/>
              </a:defRPr>
            </a:pPr>
            <a:r>
              <a:t>■ SSH = Secure Shell 安全外殼協定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一種加密的網絡傳輸協定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在不安全的公開互聯網 (Internet) 中為遠程管理提供安全的傳輸環境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所有鍵盤敲入的密碼和命令都會被強加密，中間黑客只能看到亂碼！</a:t>
            </a:r>
          </a:p>
        </p:txBody>
      </p:sp>
      <p:pic>
        <p:nvPicPr>
          <p:cNvPr id="7" name="Picture 6" descr="page_3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78434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Linux Kernel 內核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Linux 內核是指系統最核心的軟體部分（主管進程與硬體調度）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林納斯·托瓦茲 (Linus Torvalds) 於 1991 年 10 月 5 日首次發布</a:t>
            </a:r>
          </a:p>
          <a:p>
            <a:pPr>
              <a:spcAft>
                <a:spcPts val="1200"/>
              </a:spcAft>
              <a:defRPr sz="2200" b="0">
                <a:solidFill>
                  <a:srgbClr val="10B981"/>
                </a:solidFill>
                <a:latin typeface="Microsoft JhengHei"/>
              </a:defRPr>
            </a:pPr>
            <a:r>
              <a:t>■ 遵循 GNU GPL 通用公共許可證，任何人都可以自由獲取原始碼並修改！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廣泛應用於：伺服器、家用路由器、Android 手機、Raspberry Pi</a:t>
            </a:r>
          </a:p>
        </p:txBody>
      </p:sp>
      <p:pic>
        <p:nvPicPr>
          <p:cNvPr id="7" name="Picture 6" descr="page_3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常用 Linux 發行版本 (Distributions)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Linux 內核加上不同的軟體包，形成了各種專用發行版：</a:t>
            </a:r>
          </a:p>
          <a:p>
            <a:pPr>
              <a:spcAft>
                <a:spcPts val="1200"/>
              </a:spcAft>
              <a:defRPr sz="2400" b="1">
                <a:solidFill>
                  <a:srgbClr val="FFCE2B"/>
                </a:solidFill>
                <a:latin typeface="Microsoft JhengHei"/>
              </a:defRPr>
            </a:pPr>
            <a:r>
              <a:t>■ Ubuntu：最易上手、軟體最豐富的發行版（本課程專用！）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Debian：以極致穩定著稱，Ubuntu 的血統底層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Red Hat / CentOS：大企業商業伺服器首選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Kali Linux：電腦保安專家與黑客攻防首選</a:t>
            </a:r>
          </a:p>
        </p:txBody>
      </p:sp>
      <p:pic>
        <p:nvPicPr>
          <p:cNvPr id="7" name="Picture 6" descr="page_3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414872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Ubuntu Desktop 桌麵版 vs Server 伺服器版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Ubuntu 桌面版 (Desktop)：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帶 GNOME 圖形視窗，適合個人電腦與日常學習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Ubuntu 伺服器版 (Server)：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– 一般不運行桌面視窗，節省每一兆內存給服務！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管理員需以 SSH 遙距連線，並以命令行進行管理</a:t>
            </a:r>
          </a:p>
        </p:txBody>
      </p:sp>
      <p:pic>
        <p:nvPicPr>
          <p:cNvPr id="7" name="Picture 6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74015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🤖 Boss AI 賦能：AI CLI Helper 告別黑框恐懼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初學者敲命令行最害怕看見：Permission denied 或 command not found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AI 時代現代解法：Microsoft Copilot Web 充當全天候私人助教！</a:t>
            </a:r>
          </a:p>
          <a:p>
            <a:pPr>
              <a:spcAft>
                <a:spcPts val="1200"/>
              </a:spcAft>
              <a:defRPr sz="2200" b="1">
                <a:solidFill>
                  <a:srgbClr val="42413D"/>
                </a:solidFill>
                <a:latin typeface="Microsoft JhengHei"/>
              </a:defRPr>
            </a:pPr>
            <a:r>
              <a:t>■ 提問示範：</a:t>
            </a:r>
          </a:p>
          <a:p>
            <a:pPr>
              <a:spcAft>
                <a:spcPts val="1200"/>
              </a:spcAft>
              <a:defRPr sz="1800" b="0">
                <a:solidFill>
                  <a:srgbClr val="1E40AF"/>
                </a:solidFill>
                <a:latin typeface="Microsoft JhengHei"/>
              </a:defRPr>
            </a:pPr>
            <a:r>
              <a:t>■ "請用中三學生聽得懂的話解釋 Linux 命令 uname -a 的輸出結果？"</a:t>
            </a:r>
          </a:p>
          <a:p>
            <a:pPr>
              <a:spcAft>
                <a:spcPts val="1200"/>
              </a:spcAft>
              <a:defRPr sz="2200" b="1">
                <a:solidFill>
                  <a:srgbClr val="FFCE2B"/>
                </a:solidFill>
                <a:latin typeface="Microsoft JhengHei"/>
              </a:defRPr>
            </a:pPr>
            <a:r>
              <a:t>■ Copilot 立即用通俗語言拆解參數，秒級給出中文解答！</a:t>
            </a:r>
          </a:p>
        </p:txBody>
      </p:sp>
      <p:pic>
        <p:nvPicPr>
          <p:cNvPr id="7" name="Picture 6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🤖 鐵律例程：Predict → Paste → Test → Explain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嚴格杜絕中學生無腦複製粘貼 AI 代碼的偷懶習慣：</a:t>
            </a:r>
          </a:p>
          <a:p>
            <a:pPr>
              <a:spcAft>
                <a:spcPts val="1200"/>
              </a:spcAft>
              <a:defRPr sz="2600" b="1">
                <a:solidFill>
                  <a:srgbClr val="DE5D49"/>
                </a:solidFill>
                <a:latin typeface="Microsoft JhengHei"/>
              </a:defRPr>
            </a:pPr>
            <a:r>
              <a:t>■ 課堂四步防偷懶驗證法：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1. Predict (預判)：先猜測這行命令會輸出什麼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2. Paste (粘貼)：將 AI 給出的建議代碼貼入終端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3. Test (測試)：按下回車執行，觀察真實回顯</a:t>
            </a:r>
          </a:p>
          <a:p>
            <a:pPr>
              <a:spcAft>
                <a:spcPts val="1200"/>
              </a:spcAft>
              <a:defRPr sz="2000" b="1">
                <a:solidFill>
                  <a:srgbClr val="1E40AF"/>
                </a:solidFill>
                <a:latin typeface="Microsoft JhengHei"/>
              </a:defRPr>
            </a:pPr>
            <a:r>
              <a:t>■ 4. Explain (原理解釋)：在實驗紙上記錄為什麼生效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AI 是副駕駛，人類工程師永遠掌控方向盤！</a:t>
            </a:r>
          </a:p>
        </p:txBody>
      </p:sp>
      <p:pic>
        <p:nvPicPr>
          <p:cNvPr id="7" name="Picture 6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動手實操工作坊：Lab 01 任務概覽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進入真實的 Ubuntu Linux 終端 (Terminal)：</a:t>
            </a:r>
          </a:p>
          <a:p>
            <a:pPr>
              <a:spcAft>
                <a:spcPts val="1200"/>
              </a:spcAft>
              <a:defRPr sz="2400" b="0">
                <a:solidFill>
                  <a:srgbClr val="1E40AF"/>
                </a:solidFill>
                <a:latin typeface="Microsoft JhengHei"/>
              </a:defRPr>
            </a:pPr>
            <a:r>
              <a:t>■ 四大實驗任務：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1. 系統硬體偵測：運行 uname -a 與 lscpu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2. 當前位置與文件列表：運行 pwd 與 ls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3. 專案目錄樹建立：使用 mkdir 創建課堂規定結構樹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4. 互聯網連通性測試：運行 ping www.google.com</a:t>
            </a:r>
          </a:p>
          <a:p>
            <a:pPr>
              <a:spcAft>
                <a:spcPts val="1200"/>
              </a:spcAft>
              <a:defRPr sz="2200" b="1">
                <a:solidFill>
                  <a:srgbClr val="10B981"/>
                </a:solidFill>
                <a:latin typeface="Microsoft JhengHei"/>
              </a:defRPr>
            </a:pPr>
            <a:r>
              <a:t>■ 5. [全新增設] 填寫工作紙末尾的 AI 提示詞與驗證記錄！</a:t>
            </a:r>
          </a:p>
        </p:txBody>
      </p:sp>
      <p:pic>
        <p:nvPicPr>
          <p:cNvPr id="7" name="Picture 6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17007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📝 60/40 考核合規：Lab 01 附加驗證填寫示範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2413D"/>
                </a:solidFill>
                <a:latin typeface="Microsoft JhengHei"/>
              </a:defRPr>
            </a:pPr>
            <a:r>
              <a:t>■ 港大 QF2 官方 60/40 考核結構 100% 保持不變：</a:t>
            </a:r>
          </a:p>
          <a:p>
            <a:pPr>
              <a:spcAft>
                <a:spcPts val="1200"/>
              </a:spcAft>
              <a:defRPr sz="2400" b="1">
                <a:solidFill>
                  <a:srgbClr val="1E40AF"/>
                </a:solidFill>
                <a:latin typeface="Microsoft JhengHei"/>
              </a:defRPr>
            </a:pPr>
            <a:r>
              <a:t>■ 工作紙末尾增設一欄：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你向 Copilot 提出的 Prompt：</a:t>
            </a:r>
          </a:p>
          <a:p>
            <a:pPr>
              <a:spcAft>
                <a:spcPts val="1200"/>
              </a:spcAft>
              <a:defRPr sz="1800" b="0">
                <a:solidFill>
                  <a:srgbClr val="FFCE2B"/>
                </a:solidFill>
                <a:latin typeface="Microsoft JhengHei"/>
              </a:defRPr>
            </a:pPr>
            <a:r>
              <a:t>■ "What is the difference between ls and ls -la?"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AI 給出的解釋摘要：</a:t>
            </a:r>
          </a:p>
          <a:p>
            <a:pPr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■ "-a 會顯示隱藏檔案，-l 會以長格式顯示文件大小。"</a:t>
            </a:r>
          </a:p>
          <a:p>
            <a:pPr>
              <a:spcAft>
                <a:spcPts val="12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■ 你的終端驗證命令 (Verification)：</a:t>
            </a:r>
          </a:p>
          <a:p>
            <a:pPr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■ "我在終端執行了 ls -la，發現多出 .bashrc，驗證正確。"</a:t>
            </a:r>
          </a:p>
        </p:txBody>
      </p:sp>
      <p:pic>
        <p:nvPicPr>
          <p:cNvPr id="7" name="Picture 6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考題實戰：HKDSE ICT 歷屆真題直擊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模擬香港考評局 DSE ICT 考卷真題：</a:t>
            </a:r>
          </a:p>
          <a:p>
            <a:pPr>
              <a:spcAft>
                <a:spcPts val="1200"/>
              </a:spcAft>
              <a:defRPr sz="2200" b="0">
                <a:solidFill>
                  <a:srgbClr val="42413D"/>
                </a:solidFill>
                <a:latin typeface="Microsoft JhengHei"/>
              </a:defRPr>
            </a:pPr>
            <a:r>
              <a:t>■ 「某中學將圖書館系統遷移至公有雲平台：</a:t>
            </a:r>
          </a:p>
          <a:p>
            <a:pPr>
              <a:spcAft>
                <a:spcPts val="1200"/>
              </a:spcAft>
              <a:defRPr sz="2000" b="0">
                <a:solidFill>
                  <a:srgbClr val="1E40AF"/>
                </a:solidFill>
                <a:latin typeface="Microsoft JhengHei"/>
              </a:defRPr>
            </a:pPr>
            <a:r>
              <a:t>■ (a) 從『初始成本』與『擴展性』說明使用 IaaS 的優勢。（4分）」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免去購買物理伺服器的巨額資本支出 (Capex)，轉為即付即用 (Opex)；借書高峰期秒級彈性擴展 (Scalability)。</a:t>
            </a:r>
          </a:p>
          <a:p>
            <a:pPr>
              <a:spcAft>
                <a:spcPts val="1200"/>
              </a:spcAft>
              <a:defRPr sz="2000" b="0">
                <a:solidFill>
                  <a:srgbClr val="1E40AF"/>
                </a:solidFill>
                <a:latin typeface="Microsoft JhengHei"/>
              </a:defRPr>
            </a:pPr>
            <a:r>
              <a:t>■ 「(b) 若校方不想自行維護 OS 補丁，應選 IaaS 還是 PaaS？（2分）」</a:t>
            </a:r>
          </a:p>
          <a:p>
            <a:pPr lvl="1">
              <a:spcAft>
                <a:spcPts val="1200"/>
              </a:spcAft>
              <a:defRPr sz="1800" b="1">
                <a:solidFill>
                  <a:srgbClr val="10B981"/>
                </a:solidFill>
                <a:latin typeface="Microsoft JhengHei"/>
              </a:defRPr>
            </a:pPr>
            <a:r>
              <a:t>– 應選 PaaS。因為 PaaS 由雲商全託管 OS 與運行環境，校方只需專注代碼本身。</a:t>
            </a:r>
          </a:p>
        </p:txBody>
      </p:sp>
      <p:pic>
        <p:nvPicPr>
          <p:cNvPr id="7" name="Picture 6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39969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本課大總結 (Key Takeaways)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E40AF"/>
                </a:solidFill>
                <a:latin typeface="Microsoft JhengHei"/>
              </a:defRPr>
            </a:pPr>
            <a:r>
              <a:t>■ 一個轉變：從自建天台水箱 (On-Premises) 走向市政自來水管 (Cloud Resources)</a:t>
            </a:r>
          </a:p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三大類別：披薩模型 (Pizza-as-a-Service)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FFCE2B"/>
                </a:solidFill>
                <a:latin typeface="Microsoft JhengHei"/>
              </a:defRPr>
            </a:pPr>
            <a:r>
              <a:t>– IaaS (外帶生披薩自己烤) ➔ 管底層，控全盤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E40AF"/>
                </a:solidFill>
                <a:latin typeface="Microsoft JhengHei"/>
              </a:defRPr>
            </a:pPr>
            <a:r>
              <a:t>– PaaS (外賣熟披薩送到家) ➔ 帶代碼來，免運維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10B981"/>
                </a:solidFill>
                <a:latin typeface="Microsoft JhengHei"/>
              </a:defRPr>
            </a:pPr>
            <a:r>
              <a:t>– SaaS (Pizza Hut 堂食吃披薩) ➔ 點開即用，全託管</a:t>
            </a:r>
          </a:p>
          <a:p>
            <a:pPr>
              <a:spcAft>
                <a:spcPts val="1200"/>
              </a:spcAft>
              <a:defRPr sz="2200" b="1">
                <a:solidFill>
                  <a:srgbClr val="DE5D49"/>
                </a:solidFill>
                <a:latin typeface="Microsoft JhengHei"/>
              </a:defRPr>
            </a:pPr>
            <a:r>
              <a:t>■ 一個法則：Predict → Paste → Test → Explain，用命令驗證 AI！</a:t>
            </a:r>
          </a:p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Microsoft JhengHei"/>
              </a:defRPr>
            </a:pPr>
            <a:r>
              <a:t>■ 一個起點：學好 Linux CLI 基本功，成為具備實操能力的雲架構師！</a:t>
            </a:r>
          </a:p>
        </p:txBody>
      </p:sp>
      <p:pic>
        <p:nvPicPr>
          <p:cNvPr id="7" name="Picture 6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943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82825"/>
                </a:solidFill>
                <a:latin typeface="Microsoft JhengHei"/>
              </a:defRPr>
            </a:pPr>
            <a:r>
              <a:t>動手操作：打開終端機，開始 Lab 01！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 b="1">
                <a:solidFill>
                  <a:srgbClr val="10B981"/>
                </a:solidFill>
                <a:latin typeface="Microsoft JhengHei"/>
              </a:defRPr>
            </a:pPr>
            <a:r>
              <a:t>■ 請大家打開電腦，開始我們的 Lab 01 實操！</a:t>
            </a:r>
          </a:p>
          <a:p>
            <a:pPr>
              <a:spcAft>
                <a:spcPts val="1200"/>
              </a:spcAft>
              <a:defRPr sz="2400" b="0">
                <a:solidFill>
                  <a:srgbClr val="1E40AF"/>
                </a:solidFill>
                <a:latin typeface="Microsoft JhengHei"/>
              </a:defRPr>
            </a:pPr>
            <a:r>
              <a:t>■ Ubuntu Terminal 終端機操作</a:t>
            </a:r>
          </a:p>
          <a:p>
            <a:pPr>
              <a:spcAft>
                <a:spcPts val="1200"/>
              </a:spcAft>
              <a:defRPr sz="2400" b="1">
                <a:solidFill>
                  <a:srgbClr val="42413D"/>
                </a:solidFill>
                <a:latin typeface="Microsoft JhengHei"/>
              </a:defRPr>
            </a:pPr>
            <a:r>
              <a:t>■ 下一講看點 (Deck 02)：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現代軟件堆棧與 Linux 系統管理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親手用 apt 安裝 Nginx 網頁引擎</a:t>
            </a:r>
          </a:p>
          <a:p>
            <a:pPr lvl="1">
              <a:spcAft>
                <a:spcPts val="12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學習 systemctl 服務管理與端口狀態監控</a:t>
            </a:r>
          </a:p>
          <a:p>
            <a:pPr>
              <a:spcAft>
                <a:spcPts val="1200"/>
              </a:spcAft>
              <a:defRPr sz="2800" b="1">
                <a:solidFill>
                  <a:srgbClr val="FFCE2B"/>
                </a:solidFill>
                <a:latin typeface="Microsoft JhengHei"/>
              </a:defRPr>
            </a:pPr>
            <a:r>
              <a:t>■ 感謝大家！</a:t>
            </a:r>
          </a:p>
        </p:txBody>
      </p:sp>
      <p:pic>
        <p:nvPicPr>
          <p:cNvPr id="7" name="Picture 6" descr="page_30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62818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