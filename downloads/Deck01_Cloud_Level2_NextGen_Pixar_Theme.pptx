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65760"/>
            <a:ext cx="2194560" cy="219456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4206240"/>
            <a:ext cx="2743200" cy="27432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66160" y="1097280"/>
            <a:ext cx="505663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🚀 SEED CLOUD COMPUTING • LEVEL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1091672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6000" b="1">
                <a:solidFill>
                  <a:srgbClr val="0F172A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167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4400" b="1">
                <a:solidFill>
                  <a:srgbClr val="F59E0B"/>
                </a:solidFill>
                <a:latin typeface="Microsoft JhengHei"/>
              </a:defRPr>
            </a:pPr>
            <a:r>
              <a:t>第 1 課：雲服務類別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69080"/>
            <a:ext cx="11091672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2600" b="0">
                <a:solidFill>
                  <a:srgbClr val="475569"/>
                </a:solidFill>
                <a:latin typeface="Microsoft JhengHei"/>
              </a:defRPr>
            </a:pPr>
            <a:r>
              <a:t>🍕 披薩模型 • 🫀 人體器官 • 🐧 Linux • 🤖 AI 運維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5120640"/>
            <a:ext cx="7799831" cy="566928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47857"/>
                </a:solidFill>
                <a:latin typeface="Microsoft JhengHei"/>
              </a:defRPr>
            </a:pPr>
            <a:r>
              <a:t>SEED Foundation × HKU SPACE（QF Level 2 認證單元）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54583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本課內容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9496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雲服務類別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深入了解 IaaS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場所資源 vs 雲端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操作系統簡介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1828800"/>
            <a:ext cx="539496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認識 Linux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AI CLI Helper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Lab 01 實操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Ubuntu Terminal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31875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雲服務類別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IaaS 基建即服務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AWS、阿里雲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PaaS 平台即服務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Google App Engine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SaaS 軟件即服務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Microsoft 365</a:t>
            </a:r>
          </a:p>
        </p:txBody>
      </p:sp>
      <p:pic>
        <p:nvPicPr>
          <p:cNvPr id="10" name="Picture 9" descr="slide_03_cloud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109167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披薩模型：IaaS vs PaaS vs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IaaS ➔ 冷凍披薩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自己焗、自己擺枱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PaaS ➔ 外賣披薩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只需準備餐枱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SaaS ➔ 餐廳堂食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坐下來就吃</a:t>
            </a:r>
          </a:p>
        </p:txBody>
      </p:sp>
      <p:pic>
        <p:nvPicPr>
          <p:cNvPr id="10" name="Picture 9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386459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深入了解 IaaS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2563EB"/>
                </a:solidFill>
                <a:latin typeface="Microsoft JhengHei"/>
              </a:defRPr>
            </a:pPr>
            <a:r>
              <a:t>從機房硬件到雲端虛擬運算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663750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基建即服務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租用運算基建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伺服器、存儲、網絡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最基本的雲服務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不用自己買伺服器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按需租用、即開即用</a:t>
            </a:r>
          </a:p>
        </p:txBody>
      </p:sp>
      <p:pic>
        <p:nvPicPr>
          <p:cNvPr id="10" name="Picture 9" descr="slide_06_iaas_r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941042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供應商的數據中心規模龐大</a:t>
            </a:r>
          </a:p>
        </p:txBody>
      </p:sp>
      <p:pic>
        <p:nvPicPr>
          <p:cNvPr id="9" name="Picture 8" descr="slide_07_massive_data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218334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AWS 的超大規模數據中心</a:t>
            </a:r>
          </a:p>
        </p:txBody>
      </p:sp>
      <p:pic>
        <p:nvPicPr>
          <p:cNvPr id="9" name="Picture 8" descr="slide_07_massive_data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495626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主要供應商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Amazon AWS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阿里雲 Alibaba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Microsoft Azure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Google Cloud</a:t>
            </a:r>
          </a:p>
        </p:txBody>
      </p:sp>
      <p:pic>
        <p:nvPicPr>
          <p:cNvPr id="10" name="Picture 9" descr="slide_03_cloud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772918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什麼是基建 Infrastructure？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提供數據運算的電腦與網絡硬件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服務器 Server 與虛擬機 VM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存儲設備 Storage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網絡設備：交換機、防火牆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050209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場所資源 vs 雲端：水箱 vs 自來水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自建 = 天台水箱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漏水生鏽，全靠自己修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公有雲 = 自來水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扭開即有，按量收費</a:t>
            </a:r>
          </a:p>
        </p:txBody>
      </p:sp>
      <p:pic>
        <p:nvPicPr>
          <p:cNvPr id="10" name="Picture 9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327501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小企業場所資源常見問題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自建 Server 房隱患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散熱差、線路雜亂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停電漏水就死機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缺乏專業備援電力</a:t>
            </a:r>
          </a:p>
        </p:txBody>
      </p:sp>
      <p:pic>
        <p:nvPicPr>
          <p:cNvPr id="10" name="Picture 9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604793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大大提升設備管理水平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減少初始投資成本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不用一次過買伺服器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專業團隊 24/7 管理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後備電源、恆溫散熱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像自來水一樣穩定可靠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882085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最基本的 IaaS 服務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F43F5E"/>
                </a:solidFill>
                <a:latin typeface="Microsoft JhengHei"/>
              </a:defRPr>
            </a:pPr>
            <a:r>
              <a:t>租用雲服務器 (Cloud Server)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159377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雲設備多數當服務器用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F43F5E"/>
                </a:solidFill>
                <a:latin typeface="Microsoft JhengHei"/>
              </a:defRPr>
            </a:pPr>
            <a:r>
              <a:t>Server，而不是個人電腦 PC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436668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什麼是服務器 Server？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客戶端 Client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手機、平板、手提電腦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服務器 Server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為千萬客戶端提供服務</a:t>
            </a:r>
          </a:p>
        </p:txBody>
      </p:sp>
      <p:pic>
        <p:nvPicPr>
          <p:cNvPr id="10" name="Picture 9" descr="slide_25_server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71396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服務器提供什麼服務？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網頁：Nginx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數據庫：MySQL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工業級硬體配置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強悍多核心 CPU、大容量 RAM</a:t>
            </a:r>
          </a:p>
        </p:txBody>
      </p:sp>
      <p:pic>
        <p:nvPicPr>
          <p:cNvPr id="10" name="Picture 9" descr="slide_25_server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991252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雲供應商的服務器分為兩種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Bare Metal 裸金屬服務器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整部物理機由你獨享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Virtual Machine 虛擬主機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一部機切成多部共用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268544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Bare Metal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沒有虛擬化的物理機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單一客戶獨享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性能最強、最私密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獨立花園別墅體驗</a:t>
            </a:r>
          </a:p>
        </p:txBody>
      </p:sp>
      <p:pic>
        <p:nvPicPr>
          <p:cNvPr id="10" name="Picture 9" descr="slide_21_baremetal_vs_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545836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虛擬主機與 Hypervisor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Hypervisor = 大腦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例：KVM、VMware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一部機切出多部 VM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幾十秒開一部新機</a:t>
            </a:r>
          </a:p>
        </p:txBody>
      </p:sp>
      <p:pic>
        <p:nvPicPr>
          <p:cNvPr id="10" name="Picture 9" descr="slide_20_vm_hyper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823127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裸金屬 vs 虛擬機：獨立屋 vs 公寓</a:t>
            </a:r>
          </a:p>
        </p:txBody>
      </p:sp>
      <p:pic>
        <p:nvPicPr>
          <p:cNvPr id="9" name="Picture 8" descr="slide_21_baremetal_vs_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100419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OS 操作系統：電腦的器官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硬件 = 骨骼軀體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OS = 神經與呼吸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調度 CPU、記憶體生命體徵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App = 大腦思維與交付</a:t>
            </a:r>
          </a:p>
        </p:txBody>
      </p:sp>
      <p:pic>
        <p:nvPicPr>
          <p:cNvPr id="10" name="Picture 9" descr="software_stack_org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377711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常用電腦操作系統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Windows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個人及企業最常用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macOS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Apple 電腦專用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Linux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雲服務器的主流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655003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個人使用的操作系統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個人電腦 PC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辦公、上網、打機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圖像化界面 GUI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滑鼠點擊、視窗</a:t>
            </a:r>
          </a:p>
        </p:txBody>
      </p:sp>
      <p:pic>
        <p:nvPicPr>
          <p:cNvPr id="10" name="Picture 9" descr="slide_24_desktop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932295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服務器專用的操作系統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運行服務器軟件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Nginx、MariaDB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不需要 GUI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省下 CPU 和 RAM 100% 算力保障</a:t>
            </a:r>
          </a:p>
        </p:txBody>
      </p:sp>
      <p:pic>
        <p:nvPicPr>
          <p:cNvPr id="10" name="Picture 9" descr="slide_25_server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209586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服務器外觀種類：機架與塔式</a:t>
            </a:r>
          </a:p>
        </p:txBody>
      </p:sp>
      <p:pic>
        <p:nvPicPr>
          <p:cNvPr id="9" name="Picture 8" descr="slide_25_server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486878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數據中心：不接螢幕、鍵盤、滑鼠</a:t>
            </a:r>
          </a:p>
        </p:txBody>
      </p:sp>
      <p:pic>
        <p:nvPicPr>
          <p:cNvPr id="9" name="Picture 8" descr="slide_25_server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764170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遙距連線及命令行操作</a:t>
            </a:r>
          </a:p>
        </p:txBody>
      </p:sp>
      <p:pic>
        <p:nvPicPr>
          <p:cNvPr id="9" name="Picture 8" descr="slide_31_ssh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041462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Windows Server 商業伺服器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企業專用版本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支持 Active Directory 域管理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需付微軟授權費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雲端按小時計費成本較高</a:t>
            </a:r>
          </a:p>
        </p:txBody>
      </p:sp>
      <p:pic>
        <p:nvPicPr>
          <p:cNvPr id="10" name="Picture 9" descr="slide_20_vm_hyper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318754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開源 Open Source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完全免費使用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90% 雲服務器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都在運行 Linux</a:t>
            </a:r>
          </a:p>
        </p:txBody>
      </p:sp>
      <p:pic>
        <p:nvPicPr>
          <p:cNvPr id="10" name="Picture 9" descr="slide_30_linux_t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596045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SSH 安全外殼協定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加密隧道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防止黑客偷聽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預設 Port 22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遠程管理雲服務器</a:t>
            </a:r>
          </a:p>
        </p:txBody>
      </p:sp>
      <p:pic>
        <p:nvPicPr>
          <p:cNvPr id="10" name="Picture 9" descr="slide_31_ssh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873337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Kernel 內核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系統的心臟動力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主管 CPU、記憶體調度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Linus Torvalds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1991 年首次發布</a:t>
            </a:r>
          </a:p>
        </p:txBody>
      </p:sp>
      <p:pic>
        <p:nvPicPr>
          <p:cNvPr id="10" name="Picture 9" descr="slide_32_linux_ker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150629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核心無處不在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個人電腦 Personal Computer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雲服務器、超級電腦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家用路由器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Android 手機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智能汽車、IoT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427921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預裝 Linux 的電腦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Purism Librem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重視私隱的開源電腦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出廠預裝 PureOS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基於 Debian 體系</a:t>
            </a:r>
          </a:p>
        </p:txBody>
      </p:sp>
      <p:pic>
        <p:nvPicPr>
          <p:cNvPr id="10" name="Picture 9" descr="slide_30_linux_t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705213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常用 Linux 發行版本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同一個 Kernel，不同包裝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Ubuntu / Debian：APT 易上手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Red Hat / Rocky：RPM 企業級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Arch：極客滾動更新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982504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發行版企鵝家族樹</a:t>
            </a:r>
          </a:p>
        </p:txBody>
      </p:sp>
      <p:pic>
        <p:nvPicPr>
          <p:cNvPr id="9" name="Picture 8" descr="slide_36_linux_distros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259796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Desktop 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Kali Linux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網絡保安專家首選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Ubuntu Desktop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易用的圖像化界面</a:t>
            </a:r>
          </a:p>
        </p:txBody>
      </p:sp>
      <p:pic>
        <p:nvPicPr>
          <p:cNvPr id="10" name="Picture 9" descr="slide_24_desktop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537088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服務器版本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Ubuntu Server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沒有桌面視窗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節省 90% 系統資源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用命令行 CLI 管理</a:t>
            </a:r>
          </a:p>
        </p:txBody>
      </p:sp>
      <p:pic>
        <p:nvPicPr>
          <p:cNvPr id="10" name="Picture 9" descr="slide_25_server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07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814380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AI CLI Helper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報錯不用怕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複製錯誤訊息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問 AI 助手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解釋原因 + 修正指令</a:t>
            </a:r>
          </a:p>
        </p:txBody>
      </p:sp>
      <p:pic>
        <p:nvPicPr>
          <p:cNvPr id="10" name="Picture 9" descr="ai_cli_hel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07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40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動手操作 Lab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uname -a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查看內核版本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lscpu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查看 CPU 架構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ping google.com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測試網絡連通</a:t>
            </a:r>
          </a:p>
        </p:txBody>
      </p:sp>
      <p:pic>
        <p:nvPicPr>
          <p:cNvPr id="10" name="Picture 9" descr="antigravity_agent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