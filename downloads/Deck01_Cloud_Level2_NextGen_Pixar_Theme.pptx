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" y="548640"/>
            <a:ext cx="2011680" cy="2011680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4389120"/>
            <a:ext cx="2377440" cy="237744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371600"/>
            <a:ext cx="941832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2563EB"/>
                </a:solidFill>
                <a:latin typeface="Microsoft JhengHei"/>
              </a:defRPr>
            </a:pPr>
            <a:r>
              <a:t>🚀 SEED CLOUD COMPUTING • LEVEL 2</a:t>
            </a:r>
          </a:p>
          <a:p>
            <a:pPr algn="ctr">
              <a:spcBef>
                <a:spcPts val="1400"/>
              </a:spcBef>
              <a:defRPr sz="5600" b="1">
                <a:solidFill>
                  <a:srgbClr val="0F172A"/>
                </a:solidFill>
                <a:latin typeface="Microsoft JhengHei"/>
              </a:defRPr>
            </a:pPr>
            <a:r>
              <a:t>第二單元：基礎雲計算技術</a:t>
            </a:r>
          </a:p>
          <a:p>
            <a:pPr algn="ctr">
              <a:spcBef>
                <a:spcPts val="1400"/>
              </a:spcBef>
              <a:defRPr sz="3600" b="1">
                <a:solidFill>
                  <a:srgbClr val="F59E0B"/>
                </a:solidFill>
                <a:latin typeface="Microsoft JhengHei"/>
              </a:defRPr>
            </a:pPr>
            <a:r>
              <a:t>第 1 課：解密雲端世界與架構基石</a:t>
            </a:r>
          </a:p>
          <a:p>
            <a:pPr algn="ctr">
              <a:spcBef>
                <a:spcPts val="2400"/>
              </a:spcBef>
              <a:defRPr sz="2000">
                <a:solidFill>
                  <a:srgbClr val="475569"/>
                </a:solidFill>
                <a:latin typeface="Microsoft JhengHei"/>
              </a:defRPr>
            </a:pPr>
            <a:r>
              <a:t>披薩模型 (Pizza-as-a-Service) • 人體器官架構 • AI 現代運維 • Linux 奇幻冒險</a:t>
            </a:r>
          </a:p>
          <a:p>
            <a:pPr algn="ctr">
              <a:spcBef>
                <a:spcPts val="3600"/>
              </a:spcBef>
              <a:defRPr sz="1600" b="1">
                <a:solidFill>
                  <a:srgbClr val="10B981"/>
                </a:solidFill>
                <a:latin typeface="Microsoft JhengHei"/>
              </a:defRPr>
            </a:pPr>
            <a:r>
              <a:t>香港大學專業進修學院 (HKU SPACE) 資歷架構第二級 (QF Level 2) 認證單元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926080" cy="3657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🍕 01. 雲服務類別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200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Microsoft JhengHei"/>
              </a:defRPr>
            </a:pPr>
            <a:r>
              <a:t>第二單元：基礎雲計算技術 • QF Level 2 認證單元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10058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02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822960"/>
            <a:ext cx="539496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Microsoft JhengHei"/>
              </a:defRPr>
            </a:pPr>
            <a:r>
              <a:t>本課內容大綱 (Course Roadmap)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11680"/>
            <a:ext cx="5120640" cy="44805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Microsoft JhengHei"/>
              </a:defRPr>
            </a:pPr>
            <a:r>
              <a:t>⚡ 雲服務類別 (IaaS / PaaS / SaaS)</a:t>
            </a:r>
          </a:p>
          <a:p>
            <a:pPr>
              <a:spcAft>
                <a:spcPts val="1600"/>
              </a:spcAft>
              <a:defRPr sz="2200" b="1">
                <a:solidFill>
                  <a:srgbClr val="0F172A"/>
                </a:solidFill>
                <a:latin typeface="Microsoft JhengHei"/>
              </a:defRPr>
            </a:pPr>
            <a:r>
              <a:t>⚡ 深入了解 IaaS 基建架構</a:t>
            </a:r>
          </a:p>
          <a:p>
            <a:pPr>
              <a:spcAft>
                <a:spcPts val="1600"/>
              </a:spcAft>
              <a:defRPr sz="2200" b="1">
                <a:solidFill>
                  <a:srgbClr val="0F172A"/>
                </a:solidFill>
                <a:latin typeface="Microsoft JhengHei"/>
              </a:defRPr>
            </a:pPr>
            <a:r>
              <a:t>⚡ 場所資源 vs. 雲端 (自建水箱 vs. 自來水)</a:t>
            </a:r>
          </a:p>
          <a:p>
            <a:pPr>
              <a:spcAft>
                <a:spcPts val="1600"/>
              </a:spcAft>
              <a:defRPr sz="2200" b="1">
                <a:solidFill>
                  <a:srgbClr val="0F172A"/>
                </a:solidFill>
                <a:latin typeface="Microsoft JhengHei"/>
              </a:defRPr>
            </a:pPr>
            <a:r>
              <a:t>⚡ 操作系統簡介 (5 層技術棧與人體器官)</a:t>
            </a:r>
          </a:p>
          <a:p>
            <a:pPr>
              <a:spcAft>
                <a:spcPts val="1600"/>
              </a:spcAft>
              <a:defRPr sz="2200" b="1">
                <a:solidFill>
                  <a:srgbClr val="0F172A"/>
                </a:solidFill>
                <a:latin typeface="Microsoft JhengHei"/>
              </a:defRPr>
            </a:pPr>
            <a:r>
              <a:t>⚡ 認識 Linux 操作系統 (Tux 企鵝家族)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011680"/>
            <a:ext cx="5120640" cy="44805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Microsoft JhengHei"/>
              </a:defRPr>
            </a:pPr>
            <a:r>
              <a:t>⚡ 現代雲架構與 AI 輔助</a:t>
            </a:r>
          </a:p>
          <a:p>
            <a:pPr>
              <a:spcAft>
                <a:spcPts val="1600"/>
              </a:spcAft>
              <a:defRPr sz="2200" b="1">
                <a:solidFill>
                  <a:srgbClr val="0F172A"/>
                </a:solidFill>
                <a:latin typeface="Microsoft JhengHei"/>
              </a:defRPr>
            </a:pPr>
            <a:r>
              <a:t>⚡ AI CLI Helper (智能終端命令助手)</a:t>
            </a:r>
          </a:p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Microsoft JhengHei"/>
              </a:defRPr>
            </a:pPr>
            <a:r>
              <a:t>⚡ 動手實操 (Lab 01 基礎實操)</a:t>
            </a:r>
          </a:p>
          <a:p>
            <a:pPr>
              <a:spcAft>
                <a:spcPts val="1000"/>
              </a:spcAft>
              <a:defRPr sz="2200" b="0">
                <a:solidFill>
                  <a:srgbClr val="475569"/>
                </a:solidFill>
                <a:latin typeface="Microsoft JhengHei"/>
              </a:defRPr>
            </a:pPr>
            <a:r>
              <a:t>   • Ubuntu Linux 系統環境驗證</a:t>
            </a:r>
          </a:p>
          <a:p>
            <a:pPr>
              <a:spcAft>
                <a:spcPts val="1000"/>
              </a:spcAft>
              <a:defRPr sz="2200" b="0">
                <a:solidFill>
                  <a:srgbClr val="475569"/>
                </a:solidFill>
                <a:latin typeface="Microsoft JhengHei"/>
              </a:defRPr>
            </a:pPr>
            <a:r>
              <a:t>   • 使用 Ubuntu Terminal 終端機進行雲管理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926080" cy="3657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🍕 01. 雲服務類別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200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Microsoft JhengHei"/>
              </a:defRPr>
            </a:pPr>
            <a:r>
              <a:t>第二單元：基礎雲計算技術 • QF Level 2 認證單元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10058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03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822960"/>
            <a:ext cx="809244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Microsoft JhengHei"/>
              </a:defRPr>
            </a:pPr>
            <a:r>
              <a:t>雲服務類別 (Cloud Service Models)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5029200" cy="44805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0F172A"/>
                </a:solidFill>
                <a:latin typeface="Microsoft JhengHei"/>
              </a:defRPr>
            </a:pPr>
            <a:r>
              <a:t>⚡ IaaS (基建即服務)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Infrastructure as a Service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例子：Amazon Web Services、Alibaba Cloud</a:t>
            </a:r>
          </a:p>
          <a:p>
            <a:pPr>
              <a:spcAft>
                <a:spcPts val="1600"/>
              </a:spcAft>
              <a:defRPr sz="2500" b="1">
                <a:solidFill>
                  <a:srgbClr val="0F172A"/>
                </a:solidFill>
                <a:latin typeface="Microsoft JhengHei"/>
              </a:defRPr>
            </a:pPr>
            <a:r>
              <a:t>⚡ PaaS (平台即服務)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Platform as a Service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例子：Google App Engine、Cloudflare Workers</a:t>
            </a:r>
          </a:p>
          <a:p>
            <a:pPr>
              <a:spcAft>
                <a:spcPts val="1600"/>
              </a:spcAft>
              <a:defRPr sz="2500" b="1">
                <a:solidFill>
                  <a:srgbClr val="0F172A"/>
                </a:solidFill>
                <a:latin typeface="Microsoft JhengHei"/>
              </a:defRPr>
            </a:pPr>
            <a:r>
              <a:t>⚡ SaaS (軟件即服務)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Software as a Service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例子：Microsoft 365、Google Workspace</a:t>
            </a:r>
          </a:p>
        </p:txBody>
      </p:sp>
      <p:pic>
        <p:nvPicPr>
          <p:cNvPr id="10" name="Picture 9" descr="multi_cloud_map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577840" cy="343251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926080" cy="3657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🍕 01. 雲服務類別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200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Microsoft JhengHei"/>
              </a:defRPr>
            </a:pPr>
            <a:r>
              <a:t>第二單元：基礎雲計算技術 • QF Level 2 認證單元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10058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04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822960"/>
            <a:ext cx="1078992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Microsoft JhengHei"/>
              </a:defRPr>
            </a:pPr>
            <a:r>
              <a:t>披薩模型：四階雲服務分工 (Pizza-as-a-Service)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5029200" cy="44805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Microsoft JhengHei"/>
              </a:defRPr>
            </a:pPr>
            <a:r>
              <a:t>⚡ 傳統自建 IT (On-Premises)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自家揉麵烤披薩：麵粉、柴火烤箱、餐具全靠自己準備</a:t>
            </a:r>
          </a:p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Microsoft JhengHei"/>
              </a:defRPr>
            </a:pPr>
            <a:r>
              <a:t>⚡ IaaS 基建即服務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超市買冷凍披薩：店家備好餅胚，自己只需準備電烤箱</a:t>
            </a:r>
          </a:p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Microsoft JhengHei"/>
              </a:defRPr>
            </a:pPr>
            <a:r>
              <a:t>⚡ PaaS 平台即服務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披薩外賣配送：後廚烘烤全包送到家，準備餐桌即可吃</a:t>
            </a:r>
          </a:p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Microsoft JhengHei"/>
              </a:defRPr>
            </a:pPr>
            <a:r>
              <a:t>⚡ SaaS 軟件即服務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披薩店堂食：只管開口享用，水電洗碗全由店家承擔</a:t>
            </a:r>
          </a:p>
        </p:txBody>
      </p:sp>
      <p:pic>
        <p:nvPicPr>
          <p:cNvPr id="10" name="Picture 9" descr="pizza_as_a_serv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577840" cy="311321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926080" cy="3657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⚡ 02. 深入理解 IaaS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200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Microsoft JhengHei"/>
              </a:defRPr>
            </a:pPr>
            <a:r>
              <a:t>第二單元：基礎雲計算技術 • QF Level 2 認證單元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10058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05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822960"/>
            <a:ext cx="134874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Microsoft JhengHei"/>
              </a:defRPr>
            </a:pPr>
            <a:r>
              <a:t>深入了解 IaaS (Deep Dive into IaaS)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743200"/>
            <a:ext cx="941832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563EB"/>
                </a:solidFill>
                <a:latin typeface="Microsoft JhengHei"/>
              </a:defRPr>
            </a:pPr>
            <a:r>
              <a:t>什麼是雲計算基建？從硬件機房到虛擬運算世界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926080" cy="3657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⚡ 02. 深入理解 IaaS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200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Microsoft JhengHei"/>
              </a:defRPr>
            </a:pPr>
            <a:r>
              <a:t>第二單元：基礎雲計算技術 • QF Level 2 認證單元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10058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06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822960"/>
            <a:ext cx="1618488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Microsoft JhengHei"/>
              </a:defRPr>
            </a:pPr>
            <a:r>
              <a:t>IaaS (Infrastructure as a Service)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5029200" cy="44805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0F172A"/>
                </a:solidFill>
                <a:latin typeface="Microsoft JhengHei"/>
              </a:defRPr>
            </a:pPr>
            <a:r>
              <a:t>⚡ 基建即服務：最基本的雲計算服務類別</a:t>
            </a:r>
          </a:p>
          <a:p>
            <a:pPr>
              <a:spcAft>
                <a:spcPts val="1600"/>
              </a:spcAft>
              <a:defRPr sz="2100" b="1">
                <a:solidFill>
                  <a:srgbClr val="0F172A"/>
                </a:solidFill>
                <a:latin typeface="Microsoft JhengHei"/>
              </a:defRPr>
            </a:pPr>
            <a:r>
              <a:t>⚡ 將電腦運算的基建設備以租用形式提供給雲客戶</a:t>
            </a:r>
          </a:p>
          <a:p>
            <a:pPr>
              <a:spcAft>
                <a:spcPts val="1600"/>
              </a:spcAft>
              <a:defRPr sz="2100" b="1">
                <a:solidFill>
                  <a:srgbClr val="0F172A"/>
                </a:solidFill>
                <a:latin typeface="Microsoft JhengHei"/>
              </a:defRPr>
            </a:pPr>
            <a:r>
              <a:t>⚡ 企業告別一次性數十萬港幣的伺服器採購</a:t>
            </a:r>
          </a:p>
          <a:p>
            <a:pPr>
              <a:spcAft>
                <a:spcPts val="1600"/>
              </a:spcAft>
              <a:defRPr sz="2300" b="1">
                <a:solidFill>
                  <a:srgbClr val="0F172A"/>
                </a:solidFill>
                <a:latin typeface="Microsoft JhengHei"/>
              </a:defRPr>
            </a:pPr>
            <a:r>
              <a:t>⚡ 按需租用、秒級開機、彈性擴容！</a:t>
            </a:r>
          </a:p>
        </p:txBody>
      </p:sp>
      <p:pic>
        <p:nvPicPr>
          <p:cNvPr id="10" name="Picture 9" descr="page_7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920240"/>
            <a:ext cx="5577840" cy="27889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926080" cy="3657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⚡ 02. 深入理解 IaaS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200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Microsoft JhengHei"/>
              </a:defRPr>
            </a:pPr>
            <a:r>
              <a:t>第二單元：基礎雲計算技術 • QF Level 2 認證單元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10058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07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822960"/>
            <a:ext cx="1888236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Microsoft JhengHei"/>
              </a:defRPr>
            </a:pPr>
            <a:r>
              <a:t>IaaS 供應商的數據中心規模龐大</a:t>
            </a:r>
          </a:p>
        </p:txBody>
      </p:sp>
      <p:pic>
        <p:nvPicPr>
          <p:cNvPr id="9" name="Picture 8" descr="page_7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737360"/>
            <a:ext cx="996696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926080" cy="3657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⚡ 02. 深入理解 IaaS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200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Microsoft JhengHei"/>
              </a:defRPr>
            </a:pPr>
            <a:r>
              <a:t>第二單元：基礎雲計算技術 • QF Level 2 認證單元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10058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08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822960"/>
            <a:ext cx="2157984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Microsoft JhengHei"/>
              </a:defRPr>
            </a:pPr>
            <a:r>
              <a:t>AWS 的全球超大規模數據中心</a:t>
            </a:r>
          </a:p>
        </p:txBody>
      </p:sp>
      <p:pic>
        <p:nvPicPr>
          <p:cNvPr id="9" name="Picture 8" descr="page_8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737360"/>
            <a:ext cx="9966960" cy="56064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926080" cy="3657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⚡ 02. 深入理解 IaaS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200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Microsoft JhengHei"/>
              </a:defRPr>
            </a:pPr>
            <a:r>
              <a:t>第二單元：基礎雲計算技術 • QF Level 2 認證單元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10058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09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822960"/>
            <a:ext cx="2427732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Microsoft JhengHei"/>
              </a:defRPr>
            </a:pPr>
            <a:r>
              <a:t>IaaS 主要供應商 (Major Cloud Providers)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5029200" cy="44805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Microsoft JhengHei"/>
              </a:defRPr>
            </a:pPr>
            <a:r>
              <a:t>⚡ Amazon Web Services (AWS)</a:t>
            </a:r>
          </a:p>
          <a:p>
            <a:pPr>
              <a:spcAft>
                <a:spcPts val="1000"/>
              </a:spcAft>
              <a:defRPr sz="1900" b="0">
                <a:solidFill>
                  <a:srgbClr val="475569"/>
                </a:solidFill>
                <a:latin typeface="Microsoft JhengHei"/>
              </a:defRPr>
            </a:pPr>
            <a:r>
              <a:t>   • 全球市場份額領先，EC2 / S3 等成熟體系</a:t>
            </a:r>
          </a:p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Microsoft JhengHei"/>
              </a:defRPr>
            </a:pPr>
            <a:r>
              <a:t>⚡ Alibaba Cloud (阿里雲)</a:t>
            </a:r>
          </a:p>
          <a:p>
            <a:pPr>
              <a:spcAft>
                <a:spcPts val="1000"/>
              </a:spcAft>
              <a:defRPr sz="1900" b="0">
                <a:solidFill>
                  <a:srgbClr val="475569"/>
                </a:solidFill>
                <a:latin typeface="Microsoft JhengHei"/>
              </a:defRPr>
            </a:pPr>
            <a:r>
              <a:t>   • 亞太及中國市場領先，本地化支援極強</a:t>
            </a:r>
          </a:p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Microsoft JhengHei"/>
              </a:defRPr>
            </a:pPr>
            <a:r>
              <a:t>⚡ Microsoft Azure</a:t>
            </a:r>
          </a:p>
          <a:p>
            <a:pPr>
              <a:spcAft>
                <a:spcPts val="1000"/>
              </a:spcAft>
              <a:defRPr sz="1900" b="0">
                <a:solidFill>
                  <a:srgbClr val="475569"/>
                </a:solidFill>
                <a:latin typeface="Microsoft JhengHei"/>
              </a:defRPr>
            </a:pPr>
            <a:r>
              <a:t>   • 深度整合 Windows 企業生態與 Active Directory</a:t>
            </a:r>
          </a:p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Microsoft JhengHei"/>
              </a:defRPr>
            </a:pPr>
            <a:r>
              <a:t>⚡ Google Cloud Platform (GCP)</a:t>
            </a:r>
          </a:p>
          <a:p>
            <a:pPr>
              <a:spcAft>
                <a:spcPts val="1000"/>
              </a:spcAft>
              <a:defRPr sz="1900" b="0">
                <a:solidFill>
                  <a:srgbClr val="475569"/>
                </a:solidFill>
                <a:latin typeface="Microsoft JhengHei"/>
              </a:defRPr>
            </a:pPr>
            <a:r>
              <a:t>   • 以大數據處理、Kubernetes 與 AI/ML 算力著稱</a:t>
            </a:r>
          </a:p>
        </p:txBody>
      </p:sp>
      <p:pic>
        <p:nvPicPr>
          <p:cNvPr id="10" name="Picture 9" descr="multi_cloud_map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577840" cy="343251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926080" cy="3657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⚡ 02. 深入理解 IaaS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200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Microsoft JhengHei"/>
              </a:defRPr>
            </a:pPr>
            <a:r>
              <a:t>第二單元：基礎雲計算技術 • QF Level 2 認證單元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10058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10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822960"/>
            <a:ext cx="269748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Microsoft JhengHei"/>
              </a:defRPr>
            </a:pPr>
            <a:r>
              <a:t>什麼是基建 Infrastructure?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9875520" cy="44805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600"/>
              </a:spcAft>
              <a:defRPr sz="2600" b="1">
                <a:solidFill>
                  <a:srgbClr val="0F172A"/>
                </a:solidFill>
                <a:latin typeface="Microsoft JhengHei"/>
              </a:defRPr>
            </a:pPr>
            <a:r>
              <a:t>⚡ 電腦運算基建 (Computing Infrastructure)</a:t>
            </a:r>
          </a:p>
          <a:p>
            <a:pPr>
              <a:spcAft>
                <a:spcPts val="1000"/>
              </a:spcAft>
              <a:defRPr sz="2100" b="0">
                <a:solidFill>
                  <a:srgbClr val="475569"/>
                </a:solidFill>
                <a:latin typeface="Microsoft JhengHei"/>
              </a:defRPr>
            </a:pPr>
            <a:r>
              <a:t>   • 是指提供數據運算的相關電腦與網絡硬件設備</a:t>
            </a:r>
          </a:p>
          <a:p>
            <a:pPr>
              <a:spcAft>
                <a:spcPts val="1600"/>
              </a:spcAft>
              <a:defRPr sz="2600" b="1">
                <a:solidFill>
                  <a:srgbClr val="0F172A"/>
                </a:solidFill>
                <a:latin typeface="Microsoft JhengHei"/>
              </a:defRPr>
            </a:pPr>
            <a:r>
              <a:t>⚡ 由一系列關鍵設備組成：</a:t>
            </a:r>
          </a:p>
          <a:p>
            <a:pPr>
              <a:spcAft>
                <a:spcPts val="1000"/>
              </a:spcAft>
              <a:defRPr sz="2100" b="0">
                <a:solidFill>
                  <a:srgbClr val="475569"/>
                </a:solidFill>
                <a:latin typeface="Microsoft JhengHei"/>
              </a:defRPr>
            </a:pPr>
            <a:r>
              <a:t>   • 服務器 (Server) 與虛擬機 (Virtual Machine, VM)</a:t>
            </a:r>
          </a:p>
          <a:p>
            <a:pPr>
              <a:spcAft>
                <a:spcPts val="1000"/>
              </a:spcAft>
              <a:defRPr sz="2100" b="0">
                <a:solidFill>
                  <a:srgbClr val="475569"/>
                </a:solidFill>
                <a:latin typeface="Microsoft JhengHei"/>
              </a:defRPr>
            </a:pPr>
            <a:r>
              <a:t>   • 海量存儲設備 (Storage) 與自動備份陣列</a:t>
            </a:r>
          </a:p>
          <a:p>
            <a:pPr>
              <a:spcAft>
                <a:spcPts val="1000"/>
              </a:spcAft>
              <a:defRPr sz="2100" b="0">
                <a:solidFill>
                  <a:srgbClr val="475569"/>
                </a:solidFill>
                <a:latin typeface="Microsoft JhengHei"/>
              </a:defRPr>
            </a:pPr>
            <a:r>
              <a:t>   • 高速網絡設備：交換機 (Switches) 與防火牆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926080" cy="365760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🏢 03. 場所資源 vs 雲端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200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Microsoft JhengHei"/>
              </a:defRPr>
            </a:pPr>
            <a:r>
              <a:t>第二單元：基礎雲計算技術 • QF Level 2 認證單元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10058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11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822960"/>
            <a:ext cx="2967228" cy="36576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Microsoft JhengHei"/>
              </a:defRPr>
            </a:pPr>
            <a:r>
              <a:t>場所資源 vs. 雲端：自建水箱 vs. 自來水管網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5029200" cy="44805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Microsoft JhengHei"/>
              </a:defRPr>
            </a:pPr>
            <a:r>
              <a:t>⚡ 自建機房的致命痛點 (On-Premises)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如同大廈天台砌磚建蓄水箱：生鏽漏水、長青苔，維修全靠自己！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突發停電斷網、空調故障過熱，全公司業務瞬間癱瘓</a:t>
            </a:r>
          </a:p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Microsoft JhengHei"/>
              </a:defRPr>
            </a:pPr>
            <a:r>
              <a:t>⚡ 現代公有雲 IaaS 的降維打擊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如同市政自來水管網：擰開水龍頭即有水，永不間斷！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專業工程團隊 24/7 維護，按水錶度數月底付費，彈性擴容！</a:t>
            </a:r>
          </a:p>
        </p:txBody>
      </p:sp>
      <p:pic>
        <p:nvPicPr>
          <p:cNvPr id="10" name="Picture 9" descr="water_tank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577840" cy="311321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926080" cy="365760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🏢 03. 場所資源 vs 雲端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200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Microsoft JhengHei"/>
              </a:defRPr>
            </a:pPr>
            <a:r>
              <a:t>第二單元：基礎雲計算技術 • QF Level 2 認證單元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10058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12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822960"/>
            <a:ext cx="3236976" cy="36576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Microsoft JhengHei"/>
              </a:defRPr>
            </a:pPr>
            <a:r>
              <a:t>小企業場所資源的現實困境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5029200" cy="44805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Microsoft JhengHei"/>
              </a:defRPr>
            </a:pPr>
            <a:r>
              <a:t>⚡ 中小企業的 Server 房往往極不專業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缺乏精密空調與 UPS 不間斷電源</a:t>
            </a:r>
          </a:p>
          <a:p>
            <a:pPr>
              <a:spcAft>
                <a:spcPts val="1600"/>
              </a:spcAft>
              <a:defRPr sz="2300" b="1">
                <a:solidFill>
                  <a:srgbClr val="0F172A"/>
                </a:solidFill>
                <a:latin typeface="Microsoft JhengHei"/>
              </a:defRPr>
            </a:pPr>
            <a:r>
              <a:t>⚡ 線路雜亂、積灰嚴重，最終淪為堆放破爛的「雜物房」！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一旦發生打風漏水、電路跳閘，電商網站瞬間離線造成巨額損失</a:t>
            </a:r>
          </a:p>
        </p:txBody>
      </p:sp>
      <p:pic>
        <p:nvPicPr>
          <p:cNvPr id="10" name="Picture 9" descr="page_12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577840" cy="41833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926080" cy="365760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🏢 03. 場所資源 vs 雲端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200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Microsoft JhengHei"/>
              </a:defRPr>
            </a:pPr>
            <a:r>
              <a:t>第二單元：基礎雲計算技術 • QF Level 2 認證單元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10058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13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822960"/>
            <a:ext cx="3506724" cy="36576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Microsoft JhengHei"/>
              </a:defRPr>
            </a:pPr>
            <a:r>
              <a:t>IaaS 如何徹底改變 IT 運維？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5029200" cy="44805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0F172A"/>
                </a:solidFill>
                <a:latin typeface="Microsoft JhengHei"/>
              </a:defRPr>
            </a:pPr>
            <a:r>
              <a:t>⚡ 告別一次性重資產採購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將資本支出 (CapEx) 轉為按需運營支出 (OpEx)</a:t>
            </a:r>
          </a:p>
          <a:p>
            <a:pPr>
              <a:spcAft>
                <a:spcPts val="1600"/>
              </a:spcAft>
              <a:defRPr sz="2500" b="1">
                <a:solidFill>
                  <a:srgbClr val="0F172A"/>
                </a:solidFill>
                <a:latin typeface="Microsoft JhengHei"/>
              </a:defRPr>
            </a:pPr>
            <a:r>
              <a:t>⚡ 全球頂尖安全與基建專家 24/7 保駕護航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柴油發電機、多路光纖備援、生物識別安保</a:t>
            </a:r>
          </a:p>
          <a:p>
            <a:pPr>
              <a:spcAft>
                <a:spcPts val="1600"/>
              </a:spcAft>
              <a:defRPr sz="2300" b="1">
                <a:solidFill>
                  <a:srgbClr val="0F172A"/>
                </a:solidFill>
                <a:latin typeface="Microsoft JhengHei"/>
              </a:defRPr>
            </a:pPr>
            <a:r>
              <a:t>⚡ 可靠性高達 99.999% (五個九)！</a:t>
            </a:r>
          </a:p>
        </p:txBody>
      </p:sp>
      <p:pic>
        <p:nvPicPr>
          <p:cNvPr id="10" name="Picture 9" descr="water_tank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577840" cy="311321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926080" cy="365760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🏢 03. 場所資源 vs 雲端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200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Microsoft JhengHei"/>
              </a:defRPr>
            </a:pPr>
            <a:r>
              <a:t>第二單元：基礎雲計算技術 • QF Level 2 認證單元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10058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14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822960"/>
            <a:ext cx="3776472" cy="36576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Microsoft JhengHei"/>
              </a:defRPr>
            </a:pPr>
            <a:r>
              <a:t>最基本的 IaaS 服務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743200"/>
            <a:ext cx="941832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563EB"/>
                </a:solidFill>
                <a:latin typeface="Microsoft JhengHei"/>
              </a:defRPr>
            </a:pPr>
            <a:r>
              <a:t>租用雲服務器 (Cloud Server)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926080" cy="365760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🏢 03. 場所資源 vs 雲端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200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Microsoft JhengHei"/>
              </a:defRPr>
            </a:pPr>
            <a:r>
              <a:t>第二單元：基礎雲計算技術 • QF Level 2 認證單元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10058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15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822960"/>
            <a:ext cx="4046220" cy="36576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Microsoft JhengHei"/>
              </a:defRPr>
            </a:pPr>
            <a:r>
              <a:t>雲計算設備的本質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377440"/>
            <a:ext cx="941832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Microsoft JhengHei"/>
              </a:defRPr>
            </a:pPr>
            <a:r>
              <a:t>雲計算設備通常被當成服務器 (Server) 使用，</a:t>
            </a:r>
          </a:p>
          <a:p>
            <a:pPr>
              <a:spcBef>
                <a:spcPts val="2000"/>
              </a:spcBef>
              <a:defRPr sz="3600" b="1">
                <a:solidFill>
                  <a:srgbClr val="F43F5E"/>
                </a:solidFill>
                <a:latin typeface="Microsoft JhengHei"/>
              </a:defRPr>
            </a:pPr>
            <a:r>
              <a:t>而非當成個人電腦 (PC) 使用！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926080" cy="36576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🏗️ 04. 裸金屬 vs 虛擬機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200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Microsoft JhengHei"/>
              </a:defRPr>
            </a:pPr>
            <a:r>
              <a:t>第二單元：基礎雲計算技術 • QF Level 2 認證單元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10058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16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822960"/>
            <a:ext cx="4315968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Microsoft JhengHei"/>
              </a:defRPr>
            </a:pPr>
            <a:r>
              <a:t>什麼是服務器 (Server)？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5029200" cy="44805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Microsoft JhengHei"/>
              </a:defRPr>
            </a:pPr>
            <a:r>
              <a:t>⚡ 互聯網世界的兩大角色分工：</a:t>
            </a:r>
          </a:p>
          <a:p>
            <a:pPr>
              <a:spcAft>
                <a:spcPts val="1600"/>
              </a:spcAft>
              <a:defRPr sz="2200" b="1">
                <a:solidFill>
                  <a:srgbClr val="0F172A"/>
                </a:solidFill>
                <a:latin typeface="Microsoft JhengHei"/>
              </a:defRPr>
            </a:pPr>
            <a:r>
              <a:t>⚡ 客戶端 (Client) 與 服務器 (Server)</a:t>
            </a:r>
          </a:p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Microsoft JhengHei"/>
              </a:defRPr>
            </a:pPr>
            <a:r>
              <a:t>⚡ 客戶端 (Client)：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我們手持的手機、平板、學生筆記本電腦</a:t>
            </a:r>
          </a:p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Microsoft JhengHei"/>
              </a:defRPr>
            </a:pPr>
            <a:r>
              <a:t>⚡ 服務器 (Server / Host)：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默默為成千上萬客戶端提供穩定服務的專用硬體</a:t>
            </a:r>
          </a:p>
        </p:txBody>
      </p:sp>
      <p:pic>
        <p:nvPicPr>
          <p:cNvPr id="10" name="Picture 9" descr="page_16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577840" cy="334670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926080" cy="36576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🏗️ 04. 裸金屬 vs 虛擬機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200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Microsoft JhengHei"/>
              </a:defRPr>
            </a:pPr>
            <a:r>
              <a:t>第二單元：基礎雲計算技術 • QF Level 2 認證單元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10058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17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822960"/>
            <a:ext cx="4585716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Microsoft JhengHei"/>
              </a:defRPr>
            </a:pPr>
            <a:r>
              <a:t>服務器提供什麼核心服務？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5029200" cy="44805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Microsoft JhengHei"/>
              </a:defRPr>
            </a:pPr>
            <a:r>
              <a:t>⚡ 常見伺服器軟件角色：</a:t>
            </a:r>
          </a:p>
          <a:p>
            <a:pPr>
              <a:spcAft>
                <a:spcPts val="1000"/>
              </a:spcAft>
              <a:defRPr sz="1900" b="0">
                <a:solidFill>
                  <a:srgbClr val="475569"/>
                </a:solidFill>
                <a:latin typeface="Microsoft JhengHei"/>
              </a:defRPr>
            </a:pPr>
            <a:r>
              <a:t>   • 網頁服務器 (Nginx / Apache)</a:t>
            </a:r>
          </a:p>
          <a:p>
            <a:pPr>
              <a:spcAft>
                <a:spcPts val="1000"/>
              </a:spcAft>
              <a:defRPr sz="1900" b="0">
                <a:solidFill>
                  <a:srgbClr val="475569"/>
                </a:solidFill>
                <a:latin typeface="Microsoft JhengHei"/>
              </a:defRPr>
            </a:pPr>
            <a:r>
              <a:t>   • 數據庫服務器 (MySQL / MariaDB)</a:t>
            </a:r>
          </a:p>
          <a:p>
            <a:pPr>
              <a:spcAft>
                <a:spcPts val="1000"/>
              </a:spcAft>
              <a:defRPr sz="1900" b="0">
                <a:solidFill>
                  <a:srgbClr val="475569"/>
                </a:solidFill>
                <a:latin typeface="Microsoft JhengHei"/>
              </a:defRPr>
            </a:pPr>
            <a:r>
              <a:t>   • 電郵與 API 網關服務器</a:t>
            </a:r>
          </a:p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Microsoft JhengHei"/>
              </a:defRPr>
            </a:pPr>
            <a:r>
              <a:t>⚡ 工業級硬件配置指標：</a:t>
            </a:r>
          </a:p>
          <a:p>
            <a:pPr>
              <a:spcAft>
                <a:spcPts val="1000"/>
              </a:spcAft>
              <a:defRPr sz="1900" b="0">
                <a:solidFill>
                  <a:srgbClr val="475569"/>
                </a:solidFill>
                <a:latin typeface="Microsoft JhengHei"/>
              </a:defRPr>
            </a:pPr>
            <a:r>
              <a:t>   • 多核心高主頻 CPU 處理器</a:t>
            </a:r>
          </a:p>
          <a:p>
            <a:pPr>
              <a:spcAft>
                <a:spcPts val="1000"/>
              </a:spcAft>
              <a:defRPr sz="1900" b="0">
                <a:solidFill>
                  <a:srgbClr val="475569"/>
                </a:solidFill>
                <a:latin typeface="Microsoft JhengHei"/>
              </a:defRPr>
            </a:pPr>
            <a:r>
              <a:t>   • 支持 ECC 容錯的高速記憶體 (RAM)</a:t>
            </a:r>
          </a:p>
          <a:p>
            <a:pPr>
              <a:spcAft>
                <a:spcPts val="1000"/>
              </a:spcAft>
              <a:defRPr sz="1900" b="0">
                <a:solidFill>
                  <a:srgbClr val="475569"/>
                </a:solidFill>
                <a:latin typeface="Microsoft JhengHei"/>
              </a:defRPr>
            </a:pPr>
            <a:r>
              <a:t>   • NVMe 高速企業級固態硬盤陣列</a:t>
            </a:r>
          </a:p>
        </p:txBody>
      </p:sp>
      <p:pic>
        <p:nvPicPr>
          <p:cNvPr id="10" name="Picture 9" descr="page_17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577840" cy="37185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926080" cy="36576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🏗️ 04. 裸金屬 vs 虛擬機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200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Microsoft JhengHei"/>
              </a:defRPr>
            </a:pPr>
            <a:r>
              <a:t>第二單元：基礎雲計算技術 • QF Level 2 認證單元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10058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18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822960"/>
            <a:ext cx="4855464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Microsoft JhengHei"/>
              </a:defRPr>
            </a:pPr>
            <a:r>
              <a:t>雲供應商提供的服務器兩大形態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9875520" cy="44805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600"/>
              </a:spcAft>
              <a:defRPr sz="2600" b="1">
                <a:solidFill>
                  <a:srgbClr val="0F172A"/>
                </a:solidFill>
                <a:latin typeface="Microsoft JhengHei"/>
              </a:defRPr>
            </a:pPr>
            <a:r>
              <a:t>⚡ Bare Metal Server (裸金屬服務器)</a:t>
            </a:r>
          </a:p>
          <a:p>
            <a:pPr>
              <a:spcAft>
                <a:spcPts val="1000"/>
              </a:spcAft>
              <a:defRPr sz="2100" b="0">
                <a:solidFill>
                  <a:srgbClr val="475569"/>
                </a:solidFill>
                <a:latin typeface="Microsoft JhengHei"/>
              </a:defRPr>
            </a:pPr>
            <a:r>
              <a:t>   • 完全專屬的物理硬件，無任何虛擬化損耗</a:t>
            </a:r>
          </a:p>
          <a:p>
            <a:pPr>
              <a:spcAft>
                <a:spcPts val="1000"/>
              </a:spcAft>
              <a:defRPr sz="2100" b="0">
                <a:solidFill>
                  <a:srgbClr val="475569"/>
                </a:solidFill>
                <a:latin typeface="Microsoft JhengHei"/>
              </a:defRPr>
            </a:pPr>
            <a:r>
              <a:t>   • 獨享全部 CPU/RAM，安全合規自主性極高</a:t>
            </a:r>
          </a:p>
          <a:p>
            <a:pPr>
              <a:spcAft>
                <a:spcPts val="1600"/>
              </a:spcAft>
              <a:defRPr sz="2600" b="1">
                <a:solidFill>
                  <a:srgbClr val="0F172A"/>
                </a:solidFill>
                <a:latin typeface="Microsoft JhengHei"/>
              </a:defRPr>
            </a:pPr>
            <a:r>
              <a:t>⚡ Virtual Machine (VM 虛擬主機)</a:t>
            </a:r>
          </a:p>
          <a:p>
            <a:pPr>
              <a:spcAft>
                <a:spcPts val="1000"/>
              </a:spcAft>
              <a:defRPr sz="2100" b="0">
                <a:solidFill>
                  <a:srgbClr val="475569"/>
                </a:solidFill>
                <a:latin typeface="Microsoft JhengHei"/>
              </a:defRPr>
            </a:pPr>
            <a:r>
              <a:t>   • 在同一台物理機上虛擬出多台獨立虛擬伺服器</a:t>
            </a:r>
          </a:p>
          <a:p>
            <a:pPr>
              <a:spcAft>
                <a:spcPts val="1000"/>
              </a:spcAft>
              <a:defRPr sz="2100" b="0">
                <a:solidFill>
                  <a:srgbClr val="475569"/>
                </a:solidFill>
                <a:latin typeface="Microsoft JhengHei"/>
              </a:defRPr>
            </a:pPr>
            <a:r>
              <a:t>   • 多租戶共享硬件，按秒計費，交付極其迅速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926080" cy="36576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🏗️ 04. 裸金屬 vs 虛擬機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200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Microsoft JhengHei"/>
              </a:defRPr>
            </a:pPr>
            <a:r>
              <a:t>第二單元：基礎雲計算技術 • QF Level 2 認證單元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10058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19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822960"/>
            <a:ext cx="5125212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Microsoft JhengHei"/>
              </a:defRPr>
            </a:pPr>
            <a:r>
              <a:t>Bare Metal 裸金屬伺服器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5029200" cy="44805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Microsoft JhengHei"/>
              </a:defRPr>
            </a:pPr>
            <a:r>
              <a:t>⚡ 未安裝虛擬化軟件的純物理伺服器</a:t>
            </a:r>
          </a:p>
          <a:p>
            <a:pPr>
              <a:spcAft>
                <a:spcPts val="1600"/>
              </a:spcAft>
              <a:defRPr sz="2100" b="1">
                <a:solidFill>
                  <a:srgbClr val="0F172A"/>
                </a:solidFill>
                <a:latin typeface="Microsoft JhengHei"/>
              </a:defRPr>
            </a:pPr>
            <a:r>
              <a:t>⚡ 單一租戶獨佔整台機器全部計算算力</a:t>
            </a:r>
          </a:p>
          <a:p>
            <a:pPr>
              <a:spcAft>
                <a:spcPts val="1600"/>
              </a:spcAft>
              <a:defRPr sz="2100" b="1">
                <a:solidFill>
                  <a:srgbClr val="0F172A"/>
                </a:solidFill>
                <a:latin typeface="Microsoft JhengHei"/>
              </a:defRPr>
            </a:pPr>
            <a:r>
              <a:t>⚡ 無 Hypervisor 損耗，延遲極低</a:t>
            </a:r>
          </a:p>
          <a:p>
            <a:pPr>
              <a:spcAft>
                <a:spcPts val="1600"/>
              </a:spcAft>
              <a:defRPr sz="2100" b="1">
                <a:solidFill>
                  <a:srgbClr val="0F172A"/>
                </a:solidFill>
                <a:latin typeface="Microsoft JhengHei"/>
              </a:defRPr>
            </a:pPr>
            <a:r>
              <a:t>⚡ 適合高頻量化交易、大型遊戲伺服器與核心數據庫</a:t>
            </a:r>
          </a:p>
        </p:txBody>
      </p:sp>
      <p:pic>
        <p:nvPicPr>
          <p:cNvPr id="10" name="Picture 9" descr="page_19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577840" cy="371710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926080" cy="36576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🏗️ 04. 裸金屬 vs 虛擬機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200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Microsoft JhengHei"/>
              </a:defRPr>
            </a:pPr>
            <a:r>
              <a:t>第二單元：基礎雲計算技術 • QF Level 2 認證單元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10058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20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822960"/>
            <a:ext cx="539496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Microsoft JhengHei"/>
              </a:defRPr>
            </a:pPr>
            <a:r>
              <a:t>虛擬主機與 Hypervisor (智能調度大腦)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5029200" cy="44805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Microsoft JhengHei"/>
              </a:defRPr>
            </a:pPr>
            <a:r>
              <a:t>⚡ 底層物理伺服器 + 智能調度監控器 (Hypervisor)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如同超級大腦兼交通指揮官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切出多個互不干擾的獨立玻璃房虛擬伺服器 (VM)</a:t>
            </a:r>
          </a:p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Microsoft JhengHei"/>
              </a:defRPr>
            </a:pPr>
            <a:r>
              <a:t>⚡ 多租戶共享算力，成本極低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幾十秒即可在雲端創建並開機一台全新機器！</a:t>
            </a:r>
          </a:p>
        </p:txBody>
      </p:sp>
      <p:pic>
        <p:nvPicPr>
          <p:cNvPr id="10" name="Picture 9" descr="slide_20_vm_hypervi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577840" cy="311321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926080" cy="36576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🏗️ 04. 裸金屬 vs 虛擬機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200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Microsoft JhengHei"/>
              </a:defRPr>
            </a:pPr>
            <a:r>
              <a:t>第二單元：基礎雲計算技術 • QF Level 2 認證單元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10058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21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822960"/>
            <a:ext cx="5664708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Microsoft JhengHei"/>
              </a:defRPr>
            </a:pPr>
            <a:r>
              <a:t>裸金屬 vs. 虛擬機：私人獨棟別墅 vs. 共享公寓樓</a:t>
            </a:r>
          </a:p>
        </p:txBody>
      </p:sp>
      <p:pic>
        <p:nvPicPr>
          <p:cNvPr id="9" name="Picture 8" descr="slide_21_baremetal_vs_v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9966960" cy="556295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926080" cy="3657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🖥️ 05. 操作系統基石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200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Microsoft JhengHei"/>
              </a:defRPr>
            </a:pPr>
            <a:r>
              <a:t>第二單元：基礎雲計算技術 • QF Level 2 認證單元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10058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22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822960"/>
            <a:ext cx="5934456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Microsoft JhengHei"/>
              </a:defRPr>
            </a:pPr>
            <a:r>
              <a:t>5 層技術棧與人體器官比喻 (Software Stack)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5029200" cy="44805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Microsoft JhengHei"/>
              </a:defRPr>
            </a:pPr>
            <a:r>
              <a:t>⚡ Layer 1 物理硬件 ➔ 骨骼軀幹</a:t>
            </a:r>
          </a:p>
          <a:p>
            <a:pPr>
              <a:spcAft>
                <a:spcPts val="1000"/>
              </a:spcAft>
              <a:defRPr sz="1900" b="0">
                <a:solidFill>
                  <a:srgbClr val="475569"/>
                </a:solidFill>
                <a:latin typeface="Microsoft JhengHei"/>
              </a:defRPr>
            </a:pPr>
            <a:r>
              <a:t>   • CPU 晶片與金屬機身，支撐整體架構底座</a:t>
            </a:r>
          </a:p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Microsoft JhengHei"/>
              </a:defRPr>
            </a:pPr>
            <a:r>
              <a:t>⚡ Layer 2 操作系統 (OS) ➔ 呼吸神經系統</a:t>
            </a:r>
          </a:p>
          <a:p>
            <a:pPr>
              <a:spcAft>
                <a:spcPts val="1000"/>
              </a:spcAft>
              <a:defRPr sz="1900" b="0">
                <a:solidFill>
                  <a:srgbClr val="475569"/>
                </a:solidFill>
                <a:latin typeface="Microsoft JhengHei"/>
              </a:defRPr>
            </a:pPr>
            <a:r>
              <a:t>   • 肺部循環與神經脈衝，24/7 調度硬件生命體徵</a:t>
            </a:r>
          </a:p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Microsoft JhengHei"/>
              </a:defRPr>
            </a:pPr>
            <a:r>
              <a:t>⚡ Layer 3 運行時 ➔ 能量代謝心臟</a:t>
            </a:r>
          </a:p>
          <a:p>
            <a:pPr>
              <a:spcAft>
                <a:spcPts val="1000"/>
              </a:spcAft>
              <a:defRPr sz="1900" b="0">
                <a:solidFill>
                  <a:srgbClr val="475569"/>
                </a:solidFill>
                <a:latin typeface="Microsoft JhengHei"/>
              </a:defRPr>
            </a:pPr>
            <a:r>
              <a:t>   • Node.js / Python 代碼轉換為運算能量</a:t>
            </a:r>
          </a:p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Microsoft JhengHei"/>
              </a:defRPr>
            </a:pPr>
            <a:r>
              <a:t>⚡ Layer 4 數據庫 ➔ 海馬體記憶檔案庫</a:t>
            </a:r>
          </a:p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Microsoft JhengHei"/>
              </a:defRPr>
            </a:pPr>
            <a:r>
              <a:t>⚡ Layer 5 應用程序 ➔ 笑容與思維交付價值</a:t>
            </a:r>
          </a:p>
        </p:txBody>
      </p:sp>
      <p:pic>
        <p:nvPicPr>
          <p:cNvPr id="10" name="Picture 9" descr="software_stack_org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577840" cy="3113213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926080" cy="3657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🖥️ 05. 操作系統基石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200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Microsoft JhengHei"/>
              </a:defRPr>
            </a:pPr>
            <a:r>
              <a:t>第二單元：基礎雲計算技術 • QF Level 2 認證單元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10058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23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822960"/>
            <a:ext cx="6204204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Microsoft JhengHei"/>
              </a:defRPr>
            </a:pPr>
            <a:r>
              <a:t>常用電腦操作系統 (Popular Operating Systems)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9875520" cy="44805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600"/>
              </a:spcAft>
              <a:defRPr sz="2600" b="1">
                <a:solidFill>
                  <a:srgbClr val="0F172A"/>
                </a:solidFill>
                <a:latin typeface="Microsoft JhengHei"/>
              </a:defRPr>
            </a:pPr>
            <a:r>
              <a:t>⚡ Microsoft Windows</a:t>
            </a:r>
          </a:p>
          <a:p>
            <a:pPr>
              <a:spcAft>
                <a:spcPts val="1000"/>
              </a:spcAft>
              <a:defRPr sz="2100" b="0">
                <a:solidFill>
                  <a:srgbClr val="475569"/>
                </a:solidFill>
                <a:latin typeface="Microsoft JhengHei"/>
              </a:defRPr>
            </a:pPr>
            <a:r>
              <a:t>   • 最多個人使用 (Windows 11) &amp; 企業使用 (Windows Server)</a:t>
            </a:r>
          </a:p>
          <a:p>
            <a:pPr>
              <a:spcAft>
                <a:spcPts val="1600"/>
              </a:spcAft>
              <a:defRPr sz="2600" b="1">
                <a:solidFill>
                  <a:srgbClr val="0F172A"/>
                </a:solidFill>
                <a:latin typeface="Microsoft JhengHei"/>
              </a:defRPr>
            </a:pPr>
            <a:r>
              <a:t>⚡ macOS</a:t>
            </a:r>
          </a:p>
          <a:p>
            <a:pPr>
              <a:spcAft>
                <a:spcPts val="1000"/>
              </a:spcAft>
              <a:defRPr sz="2100" b="0">
                <a:solidFill>
                  <a:srgbClr val="475569"/>
                </a:solidFill>
                <a:latin typeface="Microsoft JhengHei"/>
              </a:defRPr>
            </a:pPr>
            <a:r>
              <a:t>   • 蘋果專用系統，廣泛應用於創意設計與工程開發</a:t>
            </a:r>
          </a:p>
          <a:p>
            <a:pPr>
              <a:spcAft>
                <a:spcPts val="1600"/>
              </a:spcAft>
              <a:defRPr sz="2600" b="1">
                <a:solidFill>
                  <a:srgbClr val="0F172A"/>
                </a:solidFill>
                <a:latin typeface="Microsoft JhengHei"/>
              </a:defRPr>
            </a:pPr>
            <a:r>
              <a:t>⚡ Linux</a:t>
            </a:r>
          </a:p>
          <a:p>
            <a:pPr>
              <a:spcAft>
                <a:spcPts val="1000"/>
              </a:spcAft>
              <a:defRPr sz="2100" b="0">
                <a:solidFill>
                  <a:srgbClr val="475569"/>
                </a:solidFill>
                <a:latin typeface="Microsoft JhengHei"/>
              </a:defRPr>
            </a:pPr>
            <a:r>
              <a:t>   • 雲端伺服器的主宰者，開源、免費、極致穩定！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926080" cy="3657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🖥️ 05. 操作系統基石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200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Microsoft JhengHei"/>
              </a:defRPr>
            </a:pPr>
            <a:r>
              <a:t>第二單元：基礎雲計算技術 • QF Level 2 認證單元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10058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24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822960"/>
            <a:ext cx="6473952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Microsoft JhengHei"/>
              </a:defRPr>
            </a:pPr>
            <a:r>
              <a:t>個人電腦操作系統 (Desktop OS &amp; GUI)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5029200" cy="44805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Microsoft JhengHei"/>
              </a:defRPr>
            </a:pPr>
            <a:r>
              <a:t>⚡ 平常使用的電腦被稱為個人電腦 (PC)</a:t>
            </a:r>
          </a:p>
          <a:p>
            <a:pPr>
              <a:spcAft>
                <a:spcPts val="1600"/>
              </a:spcAft>
              <a:defRPr sz="2100" b="1">
                <a:solidFill>
                  <a:srgbClr val="0F172A"/>
                </a:solidFill>
                <a:latin typeface="Microsoft JhengHei"/>
              </a:defRPr>
            </a:pPr>
            <a:r>
              <a:t>⚡ 迎合日常辦公、網頁瀏覽與遊戲娛樂需求</a:t>
            </a:r>
          </a:p>
          <a:p>
            <a:pPr>
              <a:spcAft>
                <a:spcPts val="1600"/>
              </a:spcAft>
              <a:defRPr sz="2100" b="1">
                <a:solidFill>
                  <a:srgbClr val="0F172A"/>
                </a:solidFill>
                <a:latin typeface="Microsoft JhengHei"/>
              </a:defRPr>
            </a:pPr>
            <a:r>
              <a:t>⚡ 以圖像化界面 (GUI) 操作為主</a:t>
            </a:r>
          </a:p>
          <a:p>
            <a:pPr>
              <a:spcAft>
                <a:spcPts val="1600"/>
              </a:spcAft>
              <a:defRPr sz="2100" b="1">
                <a:solidFill>
                  <a:srgbClr val="0F172A"/>
                </a:solidFill>
                <a:latin typeface="Microsoft JhengHei"/>
              </a:defRPr>
            </a:pPr>
            <a:r>
              <a:t>⚡ 依賴鼠標點擊、多彩視窗與豐富動畫渲染</a:t>
            </a:r>
          </a:p>
        </p:txBody>
      </p:sp>
      <p:pic>
        <p:nvPicPr>
          <p:cNvPr id="10" name="Picture 9" descr="slide_24_desktop_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577840" cy="3113213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926080" cy="3657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🖥️ 05. 操作系統基石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200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Microsoft JhengHei"/>
              </a:defRPr>
            </a:pPr>
            <a:r>
              <a:t>第二單元：基礎雲計算技術 • QF Level 2 認證單元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10058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25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822960"/>
            <a:ext cx="67437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Microsoft JhengHei"/>
              </a:defRPr>
            </a:pPr>
            <a:r>
              <a:t>服務器操作系統：無顯示器、無滑鼠、無 GUI！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5029200" cy="44805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Microsoft JhengHei"/>
              </a:defRPr>
            </a:pPr>
            <a:r>
              <a:t>⚡ 專為承載大型服務軟件而生：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Nginx 網頁服務器、MariaDB 數據庫集群</a:t>
            </a:r>
          </a:p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Microsoft JhengHei"/>
              </a:defRPr>
            </a:pPr>
            <a:r>
              <a:t>⚡ 完全摒棄圖形界面 (No GUI)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省卻圖形渲染消耗的寶貴 CPU 與 RAM</a:t>
            </a:r>
          </a:p>
          <a:p>
            <a:pPr>
              <a:spcAft>
                <a:spcPts val="1600"/>
              </a:spcAft>
              <a:defRPr sz="2200" b="1">
                <a:solidFill>
                  <a:srgbClr val="0F172A"/>
                </a:solidFill>
                <a:latin typeface="Microsoft JhengHei"/>
              </a:defRPr>
            </a:pPr>
            <a:r>
              <a:t>⚡ 100% 硬件算力專注於處理全球高並發網絡請求！</a:t>
            </a:r>
          </a:p>
        </p:txBody>
      </p:sp>
      <p:pic>
        <p:nvPicPr>
          <p:cNvPr id="10" name="Picture 9" descr="slide_25_server_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577840" cy="3113213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926080" cy="3657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🖥️ 05. 操作系統基石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200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Microsoft JhengHei"/>
              </a:defRPr>
            </a:pPr>
            <a:r>
              <a:t>第二單元：基礎雲計算技術 • QF Level 2 認證單元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10058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26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822960"/>
            <a:ext cx="7013448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Microsoft JhengHei"/>
              </a:defRPr>
            </a:pPr>
            <a:r>
              <a:t>服務器外觀種類 (Form Factors)</a:t>
            </a:r>
          </a:p>
        </p:txBody>
      </p:sp>
      <p:pic>
        <p:nvPicPr>
          <p:cNvPr id="9" name="Picture 8" descr="page_26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9966960" cy="5564886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926080" cy="3657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🖥️ 05. 操作系統基石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200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Microsoft JhengHei"/>
              </a:defRPr>
            </a:pPr>
            <a:r>
              <a:t>第二單元：基礎雲計算技術 • QF Level 2 認證單元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10058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27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822960"/>
            <a:ext cx="7283196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Microsoft JhengHei"/>
              </a:defRPr>
            </a:pPr>
            <a:r>
              <a:t>數據中心內的伺服器機櫃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4592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563EB"/>
                </a:solidFill>
                <a:latin typeface="Microsoft JhengHei"/>
              </a:defRPr>
            </a:pPr>
            <a:r>
              <a:t>機房伺服器整齊插在機櫃中，不連接任何鍵盤、螢幕或滑鼠</a:t>
            </a:r>
          </a:p>
        </p:txBody>
      </p:sp>
      <p:pic>
        <p:nvPicPr>
          <p:cNvPr id="10" name="Picture 9" descr="page_27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194560"/>
            <a:ext cx="9966960" cy="5217081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926080" cy="3657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🖥️ 05. 操作系統基石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200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Microsoft JhengHei"/>
              </a:defRPr>
            </a:pPr>
            <a:r>
              <a:t>第二單元：基礎雲計算技術 • QF Level 2 認證單元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10058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28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822960"/>
            <a:ext cx="7552944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Microsoft JhengHei"/>
              </a:defRPr>
            </a:pPr>
            <a:r>
              <a:t>服務器遙距連線與終端命令操作</a:t>
            </a:r>
          </a:p>
        </p:txBody>
      </p:sp>
      <p:pic>
        <p:nvPicPr>
          <p:cNvPr id="9" name="Picture 8" descr="page_28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9966960" cy="495040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926080" cy="3657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🖥️ 05. 操作系統基石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200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Microsoft JhengHei"/>
              </a:defRPr>
            </a:pPr>
            <a:r>
              <a:t>第二單元：基礎雲計算技術 • QF Level 2 認證單元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10058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29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822960"/>
            <a:ext cx="7822692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Microsoft JhengHei"/>
              </a:defRPr>
            </a:pPr>
            <a:r>
              <a:t>Windows Server 商業伺服器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5029200" cy="44805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Microsoft JhengHei"/>
              </a:defRPr>
            </a:pPr>
            <a:r>
              <a:t>⚡ 微軟專用企業級服務器操作系統</a:t>
            </a:r>
          </a:p>
          <a:p>
            <a:pPr>
              <a:spcAft>
                <a:spcPts val="1600"/>
              </a:spcAft>
              <a:defRPr sz="2100" b="1">
                <a:solidFill>
                  <a:srgbClr val="0F172A"/>
                </a:solidFill>
                <a:latin typeface="Microsoft JhengHei"/>
              </a:defRPr>
            </a:pPr>
            <a:r>
              <a:t>⚡ 與家用 Windows 底層架構迥異</a:t>
            </a:r>
          </a:p>
          <a:p>
            <a:pPr>
              <a:spcAft>
                <a:spcPts val="1600"/>
              </a:spcAft>
              <a:defRPr sz="2100" b="1">
                <a:solidFill>
                  <a:srgbClr val="0F172A"/>
                </a:solidFill>
                <a:latin typeface="Microsoft JhengHei"/>
              </a:defRPr>
            </a:pPr>
            <a:r>
              <a:t>⚡ 強大的企業域控 Active Directory 整合</a:t>
            </a:r>
          </a:p>
          <a:p>
            <a:pPr>
              <a:spcAft>
                <a:spcPts val="1600"/>
              </a:spcAft>
              <a:defRPr sz="2100" b="1">
                <a:solidFill>
                  <a:srgbClr val="0F172A"/>
                </a:solidFill>
                <a:latin typeface="Microsoft JhengHei"/>
              </a:defRPr>
            </a:pPr>
            <a:r>
              <a:t>⚡ 商業版權授權費較高，雲端按小時加收授權金</a:t>
            </a:r>
          </a:p>
        </p:txBody>
      </p:sp>
      <p:pic>
        <p:nvPicPr>
          <p:cNvPr id="10" name="Picture 9" descr="page_29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577840" cy="313753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92608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🐧 06.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200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Microsoft JhengHei"/>
              </a:defRPr>
            </a:pPr>
            <a:r>
              <a:t>第二單元：基礎雲計算技術 • QF Level 2 認證單元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10058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30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822960"/>
            <a:ext cx="809244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Microsoft JhengHei"/>
              </a:defRPr>
            </a:pPr>
            <a:r>
              <a:t>Linux 官方吉祥物 Tux 企鵝與開源世界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5029200" cy="44805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0F172A"/>
                </a:solidFill>
                <a:latin typeface="Microsoft JhengHei"/>
              </a:defRPr>
            </a:pPr>
            <a:r>
              <a:t>⚡ 為什麼雲端主宰者是 Linux？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開源 (Open Source)：全球頂級工程師審查，極度安全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完全免費：無需向微軟支付高昂系統版權費</a:t>
            </a:r>
          </a:p>
          <a:p>
            <a:pPr>
              <a:spcAft>
                <a:spcPts val="1600"/>
              </a:spcAft>
              <a:defRPr sz="2200" b="1">
                <a:solidFill>
                  <a:srgbClr val="0F172A"/>
                </a:solidFill>
                <a:latin typeface="Microsoft JhengHei"/>
              </a:defRPr>
            </a:pPr>
            <a:r>
              <a:t>⚡ 極致穩定：數年不重啟，全球 90% 雲端伺服器首選！</a:t>
            </a:r>
          </a:p>
        </p:txBody>
      </p:sp>
      <p:pic>
        <p:nvPicPr>
          <p:cNvPr id="10" name="Picture 9" descr="slide_30_linux_tu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577840" cy="3113213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92608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🐧 06.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200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Microsoft JhengHei"/>
              </a:defRPr>
            </a:pPr>
            <a:r>
              <a:t>第二單元：基礎雲計算技術 • QF Level 2 認證單元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10058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31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822960"/>
            <a:ext cx="8362188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Microsoft JhengHei"/>
              </a:defRPr>
            </a:pPr>
            <a:r>
              <a:t>SSH (Secure Shell)：香港 ↔ 東京加密安全隧道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5029200" cy="44805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0F172A"/>
                </a:solidFill>
                <a:latin typeface="Microsoft JhengHei"/>
              </a:defRPr>
            </a:pPr>
            <a:r>
              <a:t>⚡ 跨越危險公網的防護神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公開互聯網充滿黑客與偷聽者 (Eavesdroppers)</a:t>
            </a:r>
          </a:p>
          <a:p>
            <a:pPr>
              <a:spcAft>
                <a:spcPts val="1600"/>
              </a:spcAft>
              <a:defRPr sz="2500" b="1">
                <a:solidFill>
                  <a:srgbClr val="0F172A"/>
                </a:solidFill>
                <a:latin typeface="Microsoft JhengHei"/>
              </a:defRPr>
            </a:pPr>
            <a:r>
              <a:t>⚡ SSH (Port 22) 建立高強度金鎖加密管道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從香港教室直達日本東京雲伺服器，數據絕不外洩！</a:t>
            </a:r>
          </a:p>
        </p:txBody>
      </p:sp>
      <p:pic>
        <p:nvPicPr>
          <p:cNvPr id="10" name="Picture 9" descr="slide_31_ssh_t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577840" cy="3113213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92608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🐧 06.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200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Microsoft JhengHei"/>
              </a:defRPr>
            </a:pPr>
            <a:r>
              <a:t>第二單元：基礎雲計算技術 • QF Level 2 認證單元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10058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32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822960"/>
            <a:ext cx="8631936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Microsoft JhengHei"/>
              </a:defRPr>
            </a:pPr>
            <a:r>
              <a:t>Linux Kernel (內核)：操作系統的機械心臟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5029200" cy="44805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0F172A"/>
                </a:solidFill>
                <a:latin typeface="Microsoft JhengHei"/>
              </a:defRPr>
            </a:pPr>
            <a:r>
              <a:t>⚡ 系統的心臟動力發動機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主管 CPU 算力分配、RAM 內存調度與設備驅動</a:t>
            </a:r>
          </a:p>
          <a:p>
            <a:pPr>
              <a:spcAft>
                <a:spcPts val="1600"/>
              </a:spcAft>
              <a:defRPr sz="2500" b="1">
                <a:solidFill>
                  <a:srgbClr val="0F172A"/>
                </a:solidFill>
                <a:latin typeface="Microsoft JhengHei"/>
              </a:defRPr>
            </a:pPr>
            <a:r>
              <a:t>⚡ Linus Torvalds 在 1991 年首次發布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從大學生課餘愛好演變為改變世界的數字基礎設施！</a:t>
            </a:r>
          </a:p>
        </p:txBody>
      </p:sp>
      <p:pic>
        <p:nvPicPr>
          <p:cNvPr id="10" name="Picture 9" descr="slide_32_linux_ker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577840" cy="3113213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92608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🐧 06.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200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Microsoft JhengHei"/>
              </a:defRPr>
            </a:pPr>
            <a:r>
              <a:t>第二單元：基礎雲計算技術 • QF Level 2 認證單元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10058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33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822960"/>
            <a:ext cx="8901684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Microsoft JhengHei"/>
              </a:defRPr>
            </a:pPr>
            <a:r>
              <a:t>Linux 核心無處不在 (Ubiquitous Linux)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9875520" cy="44805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600"/>
              </a:spcAft>
              <a:defRPr sz="2600" b="1">
                <a:solidFill>
                  <a:srgbClr val="0F172A"/>
                </a:solidFill>
                <a:latin typeface="Microsoft JhengHei"/>
              </a:defRPr>
            </a:pPr>
            <a:r>
              <a:t>⚡ 個人電腦 Personal Computer</a:t>
            </a:r>
          </a:p>
          <a:p>
            <a:pPr>
              <a:spcAft>
                <a:spcPts val="1600"/>
              </a:spcAft>
              <a:defRPr sz="2600" b="1">
                <a:solidFill>
                  <a:srgbClr val="0F172A"/>
                </a:solidFill>
                <a:latin typeface="Microsoft JhengHei"/>
              </a:defRPr>
            </a:pPr>
            <a:r>
              <a:t>⚡ 服務器 Server (公有雲、私有雲、超級計算機)</a:t>
            </a:r>
          </a:p>
          <a:p>
            <a:pPr>
              <a:spcAft>
                <a:spcPts val="1600"/>
              </a:spcAft>
              <a:defRPr sz="2600" b="1">
                <a:solidFill>
                  <a:srgbClr val="0F172A"/>
                </a:solidFill>
                <a:latin typeface="Microsoft JhengHei"/>
              </a:defRPr>
            </a:pPr>
            <a:r>
              <a:t>⚡ 家用及企業路由器 Home Wireless Router</a:t>
            </a:r>
          </a:p>
          <a:p>
            <a:pPr>
              <a:spcAft>
                <a:spcPts val="1600"/>
              </a:spcAft>
              <a:defRPr sz="2600" b="1">
                <a:solidFill>
                  <a:srgbClr val="0F172A"/>
                </a:solidFill>
                <a:latin typeface="Microsoft JhengHei"/>
              </a:defRPr>
            </a:pPr>
            <a:r>
              <a:t>⚡ 智能手機 (Android 安卓底層即為 Linux 內核)</a:t>
            </a:r>
          </a:p>
          <a:p>
            <a:pPr>
              <a:spcAft>
                <a:spcPts val="1600"/>
              </a:spcAft>
              <a:defRPr sz="2600" b="1">
                <a:solidFill>
                  <a:srgbClr val="0F172A"/>
                </a:solidFill>
                <a:latin typeface="Microsoft JhengHei"/>
              </a:defRPr>
            </a:pPr>
            <a:r>
              <a:t>⚡ 物聯網與智能汽車 (IoT / Tesla 車載系統)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92608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🐧 06.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200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Microsoft JhengHei"/>
              </a:defRPr>
            </a:pPr>
            <a:r>
              <a:t>第二單元：基礎雲計算技術 • QF Level 2 認證單元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10058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34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822960"/>
            <a:ext cx="9171432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Microsoft JhengHei"/>
              </a:defRPr>
            </a:pPr>
            <a:r>
              <a:t>預裝 Linux 的開源極客電腦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5029200" cy="44805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Microsoft JhengHei"/>
              </a:defRPr>
            </a:pPr>
            <a:r>
              <a:t>⚡ Purism Librem 系列硬件</a:t>
            </a:r>
          </a:p>
          <a:p>
            <a:pPr>
              <a:spcAft>
                <a:spcPts val="1600"/>
              </a:spcAft>
              <a:defRPr sz="2100" b="1">
                <a:solidFill>
                  <a:srgbClr val="0F172A"/>
                </a:solidFill>
                <a:latin typeface="Microsoft JhengHei"/>
              </a:defRPr>
            </a:pPr>
            <a:r>
              <a:t>⚡ 注重個人隱私與完全開源的極客筆記本</a:t>
            </a:r>
          </a:p>
          <a:p>
            <a:pPr>
              <a:spcAft>
                <a:spcPts val="1600"/>
              </a:spcAft>
              <a:defRPr sz="2100" b="1">
                <a:solidFill>
                  <a:srgbClr val="0F172A"/>
                </a:solidFill>
                <a:latin typeface="Microsoft JhengHei"/>
              </a:defRPr>
            </a:pPr>
            <a:r>
              <a:t>⚡ 配備物理硬件斷電開關 (Mic / Camera Killswitch)</a:t>
            </a:r>
          </a:p>
          <a:p>
            <a:pPr>
              <a:spcAft>
                <a:spcPts val="1600"/>
              </a:spcAft>
              <a:defRPr sz="2100" b="1">
                <a:solidFill>
                  <a:srgbClr val="0F172A"/>
                </a:solidFill>
                <a:latin typeface="Microsoft JhengHei"/>
              </a:defRPr>
            </a:pPr>
            <a:r>
              <a:t>⚡ 出廠即搭載 PureOS (基於 Debian Linux)</a:t>
            </a:r>
          </a:p>
        </p:txBody>
      </p:sp>
      <p:pic>
        <p:nvPicPr>
          <p:cNvPr id="10" name="Picture 9" descr="page_34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577840" cy="23241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92608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🐧 06.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200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Microsoft JhengHei"/>
              </a:defRPr>
            </a:pPr>
            <a:r>
              <a:t>第二單元：基礎雲計算技術 • QF Level 2 認證單元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10058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35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822960"/>
            <a:ext cx="944118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Microsoft JhengHei"/>
              </a:defRPr>
            </a:pPr>
            <a:r>
              <a:t>常用 Linux 發行版本 (Distributions)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9875520" cy="44805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0F172A"/>
                </a:solidFill>
                <a:latin typeface="Microsoft JhengHei"/>
              </a:defRPr>
            </a:pPr>
            <a:r>
              <a:t>⚡ 為不同場景特製的 Linux 操作系統發行版</a:t>
            </a:r>
          </a:p>
          <a:p>
            <a:pPr>
              <a:spcAft>
                <a:spcPts val="1600"/>
              </a:spcAft>
              <a:defRPr sz="2100" b="1">
                <a:solidFill>
                  <a:srgbClr val="0F172A"/>
                </a:solidFill>
                <a:latin typeface="Microsoft JhengHei"/>
              </a:defRPr>
            </a:pPr>
            <a:r>
              <a:t>⚡ 內核相同，但搭載不同的軟件包管理生態：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Debian / Ubuntu 系列：APT 軟件包管理 (最適合初學)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RedHat / CentOS 系列：RPM / YUM 軟件包管理 (企業常規)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Arch Linux 系列：極簡極客滾動更新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92608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🐧 06.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200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Microsoft JhengHei"/>
              </a:defRPr>
            </a:pPr>
            <a:r>
              <a:t>第二單元：基礎雲計算技術 • QF Level 2 認證單元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10058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36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822960"/>
            <a:ext cx="9710928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Microsoft JhengHei"/>
              </a:defRPr>
            </a:pPr>
            <a:r>
              <a:t>Linux 發行版企鵝家族生命樹 (Distributions Tree)</a:t>
            </a:r>
          </a:p>
        </p:txBody>
      </p:sp>
      <p:pic>
        <p:nvPicPr>
          <p:cNvPr id="9" name="Picture 8" descr="slide_36_linux_distros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9966960" cy="5562954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92608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🐧 06.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200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Microsoft JhengHei"/>
              </a:defRPr>
            </a:pPr>
            <a:r>
              <a:t>第二單元：基礎雲計算技術 • QF Level 2 認證單元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10058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37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822960"/>
            <a:ext cx="9980676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Microsoft JhengHei"/>
              </a:defRPr>
            </a:pPr>
            <a:r>
              <a:t>Linux 桌面版本 (Desktop Flavors)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5029200" cy="44805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Microsoft JhengHei"/>
              </a:defRPr>
            </a:pPr>
            <a:r>
              <a:t>⚡ 作為日常個人電腦或極客開發工作站</a:t>
            </a:r>
          </a:p>
          <a:p>
            <a:pPr>
              <a:spcAft>
                <a:spcPts val="1600"/>
              </a:spcAft>
              <a:defRPr sz="2100" b="1">
                <a:solidFill>
                  <a:srgbClr val="0F172A"/>
                </a:solidFill>
                <a:latin typeface="Microsoft JhengHei"/>
              </a:defRPr>
            </a:pPr>
            <a:r>
              <a:t>⚡ 黑客與網絡安全專家的首選：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Kali Linux：預裝數千款滲透測試與安全審計工具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Ubuntu Desktop：現代流暢的圖形界面，兼容性強</a:t>
            </a:r>
          </a:p>
        </p:txBody>
      </p:sp>
      <p:pic>
        <p:nvPicPr>
          <p:cNvPr id="10" name="Picture 9" descr="page_37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577840" cy="2881884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92608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🐧 06. Linux 企鵝世界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200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Microsoft JhengHei"/>
              </a:defRPr>
            </a:pPr>
            <a:r>
              <a:t>第二單元：基礎雲計算技術 • QF Level 2 認證單元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10058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38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822960"/>
            <a:ext cx="10250424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Microsoft JhengHei"/>
              </a:defRPr>
            </a:pPr>
            <a:r>
              <a:t>Linux 服務器版本 (Server Editions)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5029200" cy="44805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Microsoft JhengHei"/>
              </a:defRPr>
            </a:pPr>
            <a:r>
              <a:t>⚡ 專為伺服器高負載設計的純命令行版本</a:t>
            </a:r>
          </a:p>
          <a:p>
            <a:pPr>
              <a:spcAft>
                <a:spcPts val="1600"/>
              </a:spcAft>
              <a:defRPr sz="2100" b="1">
                <a:solidFill>
                  <a:srgbClr val="0F172A"/>
                </a:solidFill>
                <a:latin typeface="Microsoft JhengHei"/>
              </a:defRPr>
            </a:pPr>
            <a:r>
              <a:t>⚡ 常見系統：Ubuntu Server、Rocky Linux、Debian</a:t>
            </a:r>
          </a:p>
          <a:p>
            <a:pPr>
              <a:spcAft>
                <a:spcPts val="1600"/>
              </a:spcAft>
              <a:defRPr sz="2100" b="1">
                <a:solidFill>
                  <a:srgbClr val="0F172A"/>
                </a:solidFill>
                <a:latin typeface="Microsoft JhengHei"/>
              </a:defRPr>
            </a:pPr>
            <a:r>
              <a:t>⚡ 完全不運行桌面視窗，節省 90% 記憶體開銷</a:t>
            </a:r>
          </a:p>
          <a:p>
            <a:pPr>
              <a:spcAft>
                <a:spcPts val="1600"/>
              </a:spcAft>
              <a:defRPr sz="2200" b="1">
                <a:solidFill>
                  <a:srgbClr val="0F172A"/>
                </a:solidFill>
                <a:latin typeface="Microsoft JhengHei"/>
              </a:defRPr>
            </a:pPr>
            <a:r>
              <a:t>⚡ 雲工程師只需透過 SSH 終端命令行遠程管理！</a:t>
            </a:r>
          </a:p>
        </p:txBody>
      </p:sp>
      <p:pic>
        <p:nvPicPr>
          <p:cNvPr id="10" name="Picture 9" descr="page_38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577840" cy="3334043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926080" cy="365760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🚀 07. AI 運維 &amp; 實操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200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Microsoft JhengHei"/>
              </a:defRPr>
            </a:pPr>
            <a:r>
              <a:t>第二單元：基礎雲計算技術 • QF Level 2 認證單元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10058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39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822960"/>
            <a:ext cx="10520172" cy="36576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Microsoft JhengHei"/>
              </a:defRPr>
            </a:pPr>
            <a:r>
              <a:t>AI 時代賦能：AI CLI Helper 智能終端助手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5029200" cy="44805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Microsoft JhengHei"/>
              </a:defRPr>
            </a:pPr>
            <a:r>
              <a:t>⚡ 終端報錯不再畏懼：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初學遇到 Permission denied 或語法錯誤</a:t>
            </a:r>
          </a:p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Microsoft JhengHei"/>
              </a:defRPr>
            </a:pPr>
            <a:r>
              <a:t>⚡ AI 現代運維流程 (預測 ➔ 粘貼 ➔ 測試 ➔ 理解)：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將報錯複製給 AI CLI Helper (Copilot / DeepSeek)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AI 精準解釋原因並提供修復命令 (如 sudo chmod)</a:t>
            </a:r>
          </a:p>
          <a:p>
            <a:pPr>
              <a:spcAft>
                <a:spcPts val="1600"/>
              </a:spcAft>
              <a:defRPr sz="2200" b="1">
                <a:solidFill>
                  <a:srgbClr val="0F172A"/>
                </a:solidFill>
                <a:latin typeface="Microsoft JhengHei"/>
              </a:defRPr>
            </a:pPr>
            <a:r>
              <a:t>⚡ 培養「AI 輔助雲架構師」的現代工程思維！</a:t>
            </a:r>
          </a:p>
        </p:txBody>
      </p:sp>
      <p:pic>
        <p:nvPicPr>
          <p:cNvPr id="10" name="Picture 9" descr="ai_cli_hel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577840" cy="3432517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926080" cy="365760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🚀 07. AI 運維 &amp; 實操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200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Microsoft JhengHei"/>
              </a:defRPr>
            </a:pPr>
            <a:r>
              <a:t>第二單元：基礎雲計算技術 • QF Level 2 認證單元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0" y="320040"/>
            <a:ext cx="10058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Microsoft JhengHei"/>
              </a:defRPr>
            </a:pPr>
            <a:r>
              <a:t>40 /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822960"/>
            <a:ext cx="10789920" cy="36576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Microsoft JhengHei"/>
              </a:defRPr>
            </a:pPr>
            <a:r>
              <a:t>動手實操 (Lab 01 雲端實戰)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5029200" cy="44805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600"/>
              </a:spcAft>
              <a:defRPr sz="2400" b="1">
                <a:solidFill>
                  <a:srgbClr val="0F172A"/>
                </a:solidFill>
                <a:latin typeface="Microsoft JhengHei"/>
              </a:defRPr>
            </a:pPr>
            <a:r>
              <a:t>⚡ Ubuntu 系統環境驗證實戰：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uname -a (驗證 Linux 內核版本)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lscpu (查看 CPU 核心數與架構信息)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基礎目錄與文件管理：pwd, ls -lh, mkdir</a:t>
            </a:r>
          </a:p>
          <a:p>
            <a:pPr>
              <a:spcAft>
                <a:spcPts val="1000"/>
              </a:spcAft>
              <a:defRPr sz="2000" b="0">
                <a:solidFill>
                  <a:srgbClr val="475569"/>
                </a:solidFill>
                <a:latin typeface="Microsoft JhengHei"/>
              </a:defRPr>
            </a:pPr>
            <a:r>
              <a:t>   • 網絡連通測試：ping -c 4 www.google.com</a:t>
            </a:r>
          </a:p>
          <a:p>
            <a:pPr>
              <a:spcAft>
                <a:spcPts val="1600"/>
              </a:spcAft>
              <a:defRPr sz="2200" b="1">
                <a:solidFill>
                  <a:srgbClr val="0F172A"/>
                </a:solidFill>
                <a:latin typeface="Microsoft JhengHei"/>
              </a:defRPr>
            </a:pPr>
            <a:r>
              <a:t>⚡ 跨國雲連線：直連東京雲節點完成首個雲端部署！</a:t>
            </a:r>
          </a:p>
        </p:txBody>
      </p:sp>
      <p:pic>
        <p:nvPicPr>
          <p:cNvPr id="10" name="Picture 9" descr="antigravity_agent_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577840" cy="343251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