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EC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566160" y="1005840"/>
            <a:ext cx="5056632" cy="566928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🚀 SEED CLOUD COMPUTING • LEVEL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1672" cy="1188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5600" b="1">
                <a:solidFill>
                  <a:srgbClr val="0F172A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154680"/>
            <a:ext cx="11091672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JhengHei"/>
              </a:defRPr>
            </a:pPr>
            <a:r>
              <a:t>第 1 課：場所資源、雲端與服務模型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1091672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Microsoft JhengHei"/>
              </a:defRPr>
            </a:pPr>
            <a:r>
              <a:t>🏢 場所資源 • ☁️ 雲資源 • 🫀 軟體堆疊 • 🍕 披薩模型 (IaaS/PaaS/SaaS)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94560" y="5166360"/>
            <a:ext cx="7799831" cy="566928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369A1"/>
                </a:solidFill>
                <a:latin typeface="Microsoft JhengHei"/>
              </a:defRPr>
            </a:pPr>
            <a:r>
              <a:t>SEED Foundation × HKU SPACE（QF Level 2 認證單元）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17920"/>
            <a:ext cx="32004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Microsoft JhengHei"/>
              </a:defRPr>
            </a:pPr>
            <a:r>
              <a:t>Ver : 2026年 9月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840480" cy="47548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📋 課程導引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301752"/>
            <a:ext cx="576072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02 / 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652451" cy="54864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60120"/>
            <a:ext cx="11091672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本課內容大綱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539496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1. 場所資源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天台水箱比喻與運維困境</a:t>
            </a:r>
          </a:p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2. 雲資源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自來水比喻與對比表</a:t>
            </a:r>
          </a:p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3. 軟件組件架構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人體器官比喻與五層堆疊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783080"/>
            <a:ext cx="539496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4. 雲服務類別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吃披薩模型與責任矩陣</a:t>
            </a:r>
          </a:p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5. 服務實例與活動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三大模式實例與雙人挑戰</a:t>
            </a:r>
          </a:p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6. 總結與預告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第一課知識圖譜與預告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840480" cy="475488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🏢 01 場所資源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301752"/>
            <a:ext cx="576072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03 / 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978676" cy="54864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280160" y="2011680"/>
            <a:ext cx="9628632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468880"/>
            <a:ext cx="9262872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5000" b="1">
                <a:solidFill>
                  <a:srgbClr val="0F172A"/>
                </a:solidFill>
                <a:latin typeface="Microsoft JhengHei"/>
              </a:defRPr>
            </a:pPr>
            <a:r>
              <a:t>1. 場所資源 (On-Premises)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840480"/>
            <a:ext cx="9262872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3200" b="1">
                <a:solidFill>
                  <a:srgbClr val="F43F5E"/>
                </a:solidFill>
                <a:latin typeface="Microsoft JhengHei"/>
              </a:defRPr>
            </a:pPr>
            <a:r>
              <a:t>企業為什麼要買伺服器？從機房硬體到運維實況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840480" cy="475488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🏢 01 場所資源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301752"/>
            <a:ext cx="576072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04 / 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304902" cy="54864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60120"/>
            <a:ext cx="11091672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什麼是場所資源？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548640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本地部署 On-Premises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企業全資購買電腦硬體</a:t>
            </a:r>
          </a:p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安裝於自己建築物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例如學校伺服器機房</a:t>
            </a:r>
          </a:p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完全自行管理掌控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承擔所有軟硬體運維責任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660053"/>
            <a:ext cx="5468112" cy="309237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lide_06_iaas_re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705773"/>
            <a:ext cx="5376672" cy="300093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840480" cy="475488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🏢 01 場所資源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301752"/>
            <a:ext cx="576072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05 / 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631128" cy="54864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60120"/>
            <a:ext cx="11091672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生動比喻：天台上的私家水箱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548640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天台私家水箱比喻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學校自行建造維護大水箱</a:t>
            </a:r>
          </a:p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初期投資極高 💰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自費採購水箱與水泵管道</a:t>
            </a:r>
          </a:p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持續維護繁重 🔧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清洗消毒與修補漏水全包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660053"/>
            <a:ext cx="5468112" cy="309237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water_tank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705773"/>
            <a:ext cx="5376672" cy="300093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840480" cy="475488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🏢 01 場所資源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301752"/>
            <a:ext cx="576072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06 / 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957353" cy="54864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60120"/>
            <a:ext cx="11091672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小型企業場所資源的現實困境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548640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機房環境隱患重重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空調故障過熱、水管破裂漏水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半夜跳閘斷電，業務直接中斷</a:t>
            </a:r>
          </a:p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折舊與維修成本高昂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硬體損毀需內部 IT 自行更換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57594" y="1737360"/>
            <a:ext cx="4388762" cy="49377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lide_12_onprem_leak_dis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314" y="1783080"/>
            <a:ext cx="4297322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840480" cy="475488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🏢 01 場所資源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301752"/>
            <a:ext cx="576072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07 / 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2283579" cy="54864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60120"/>
            <a:ext cx="11091672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場所資源的核心特徵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11091672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👑 硬體所有權：企業 100% 擁有硬體與機房設備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💰 成本模式：初期資本支出極大 (CapEx 需買伺服器與精密空調)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🛠️ 維護責任：內部 IT 人員承擔所有軟硬體故障修復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⏳ 擴容彈性：極其緩慢，採購到上架耗時數週至數月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🏢 實體位置：設備完全存放在企業自己的控制室內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840480" cy="475488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🏢 01 場所資源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301752"/>
            <a:ext cx="576072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08 / 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2609805" cy="54864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60120"/>
            <a:ext cx="11091672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課堂思考：學校電腦室急需 50 部電腦？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11091672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🤔 情境思考：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若學生暴增急需擴充 50 部電腦，採購到安裝需多久？幾天還是幾週？</a:t>
            </a:r>
          </a:p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💡 痛點揭曉：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這正是「場所資源」的致命傷——嚴重缺乏彈性與即時響應能力！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一旦需求萎縮，閒置的 50 部設備更會造成沉重資金浪費。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840480" cy="47548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☁️ 02 雲資源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301752"/>
            <a:ext cx="576072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09 / 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2936030" cy="54864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280160" y="2011680"/>
            <a:ext cx="9628632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468880"/>
            <a:ext cx="9262872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5000" b="1">
                <a:solidFill>
                  <a:srgbClr val="0F172A"/>
                </a:solidFill>
                <a:latin typeface="Microsoft JhengHei"/>
              </a:defRPr>
            </a:pPr>
            <a:r>
              <a:t>2. 雲資源 (Cloud Resources)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840480"/>
            <a:ext cx="9262872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3200" b="1">
                <a:solidFill>
                  <a:srgbClr val="2563EB"/>
                </a:solidFill>
                <a:latin typeface="Microsoft JhengHei"/>
              </a:defRPr>
            </a:pPr>
            <a:r>
              <a:t>從「買硬體」到「租服務」的科技飛躍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840480" cy="47548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☁️ 02 雲資源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301752"/>
            <a:ext cx="576072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10 / 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3262256" cy="54864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60120"/>
            <a:ext cx="11091672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什麼是雲資源？雲端供應商的超大規模機房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07261" y="1737360"/>
            <a:ext cx="8774430" cy="49377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lide_07_massive_data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981" y="1783080"/>
            <a:ext cx="868299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840480" cy="47548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☁️ 02 雲資源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301752"/>
            <a:ext cx="576072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11 / 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3588482" cy="54864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60120"/>
            <a:ext cx="11091672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生動比喻：扭開水龍頭就有自來水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548640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接通城市自來水網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即開即用，無需建蓄水池</a:t>
            </a:r>
          </a:p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彈性無限隨需應變 📈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用水暴增？開大水龍頭即可</a:t>
            </a:r>
          </a:p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按量計費 Pay-as-you-go 💳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用多少付多少，免重資產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660053"/>
            <a:ext cx="5468112" cy="309237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water_tank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705773"/>
            <a:ext cx="5376672" cy="300093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840480" cy="47548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☁️ 02 雲資源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301752"/>
            <a:ext cx="576072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12 / 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3914707" cy="54864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60120"/>
            <a:ext cx="11091672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場所資源 vs 雲資源全方位對比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0893" y="1737360"/>
            <a:ext cx="8447164" cy="49377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able_onprem_vs_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6613" y="1783080"/>
            <a:ext cx="8355724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840480" cy="47548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☁️ 02 雲資源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301752"/>
            <a:ext cx="576072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13 / 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4240933" cy="54864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60120"/>
            <a:ext cx="11091672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課堂思考：為什麼新創企業首選雲端？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11091672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🤔 思考題：為什麼科技初創第一天都不買伺服器？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① 極低初期門檻：無需數十萬採購，幾十元即可開機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② 極快上線：數分鐘內在全球部署服務，搶佔市場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③ 隨業務無縫擴展：流量暴增時雲端自動秒級擴容！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840480" cy="475488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🫀 03 軟件組件和服務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301752"/>
            <a:ext cx="576072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14 / 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4567159" cy="54864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280160" y="2011680"/>
            <a:ext cx="9628632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468880"/>
            <a:ext cx="9262872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5000" b="1">
                <a:solidFill>
                  <a:srgbClr val="0F172A"/>
                </a:solidFill>
                <a:latin typeface="Microsoft JhengHei"/>
              </a:defRPr>
            </a:pPr>
            <a:r>
              <a:t>3. 軟件組件和服務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840480"/>
            <a:ext cx="9262872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3200" b="1">
                <a:solidFill>
                  <a:srgbClr val="8B5CF6"/>
                </a:solidFill>
                <a:latin typeface="Microsoft JhengHei"/>
              </a:defRPr>
            </a:pPr>
            <a:r>
              <a:t>剖析應用程式的五層架構與人體器官比喻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840480" cy="475488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🫀 03 軟件組件和服務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301752"/>
            <a:ext cx="576072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15 / 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4893384" cy="54864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60120"/>
            <a:ext cx="11091672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App 是一個層層堆疊的「軟體堆疊」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548640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應用程式不是單一物體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由多個組件協同運作而成</a:t>
            </a:r>
          </a:p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五層標準架構 Stack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從最底層硬體向上堆疊</a:t>
            </a:r>
          </a:p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各司其職緊密配合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共同支撐終端使用者介面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480310"/>
            <a:ext cx="5468112" cy="34518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lide_stack_layers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526030"/>
            <a:ext cx="5376672" cy="33604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840480" cy="475488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🫀 03 軟件組件和服務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301752"/>
            <a:ext cx="576072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16 / 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5219610" cy="54864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60120"/>
            <a:ext cx="11091672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生動比喻：軟體組件就像人體器官 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548640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🧠 操作系統 = 大腦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掌管硬體協調運作</a:t>
            </a:r>
          </a:p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💪 運行環境 = 肌肉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代碼執行 (Python/Java)</a:t>
            </a:r>
          </a:p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⚡ 中間件 = 神經系統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串聯應用與資料庫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660053"/>
            <a:ext cx="5468112" cy="309237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oftware_stack_org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705773"/>
            <a:ext cx="5376672" cy="300093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840480" cy="475488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🫀 03 軟件組件和服務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301752"/>
            <a:ext cx="576072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17 / 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5545836" cy="54864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60120"/>
            <a:ext cx="11091672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為什麼這個堆疊對雲端運算至關重要？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11091672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💡 核心啟發：雲端提供不同層級的代管服務！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🛠️ 只租底層：只租硬體與虛擬機，OS 與軟體全自理 (IaaS)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⚡ 代管中層：OS 與環境全包，你只需上傳代碼 (PaaS)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📱 全包上層：連應用都做好了，打開瀏覽器直接用 (SaaS)</a:t>
            </a:r>
          </a:p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👉 這正是雲計算三大分類：IaaS、PaaS 與 SaaS！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840480" cy="475488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🍕 04 雲服務類別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301752"/>
            <a:ext cx="576072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18 / 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5872061" cy="54864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280160" y="2011680"/>
            <a:ext cx="9628632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468880"/>
            <a:ext cx="9262872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5000" b="1">
                <a:solidFill>
                  <a:srgbClr val="0F172A"/>
                </a:solidFill>
                <a:latin typeface="Microsoft JhengHei"/>
              </a:defRPr>
            </a:pPr>
            <a:r>
              <a:t>4. 雲服務類別 (Categories)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840480"/>
            <a:ext cx="9262872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3200" b="1">
                <a:solidFill>
                  <a:srgbClr val="F59E0B"/>
                </a:solidFill>
                <a:latin typeface="Microsoft JhengHei"/>
              </a:defRPr>
            </a:pPr>
            <a:r>
              <a:t>IaaS vs PaaS vs SaaS — 掌控度與維護負擔的權衡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840480" cy="475488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🍕 04 雲服務類別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301752"/>
            <a:ext cx="576072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19 / 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6198287" cy="54864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60120"/>
            <a:ext cx="11091672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經典比喻：吃披薩模型 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548640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🥩 IaaS 生食材自煮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自由度最高，洗切烤全包</a:t>
            </a:r>
          </a:p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🍲 PaaS 料理半成品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餅皮醬料備妥，開火即烤</a:t>
            </a:r>
          </a:p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🛵 SaaS 外賣送上門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開箱即吃免洗碗，最省心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660053"/>
            <a:ext cx="5468112" cy="309237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izza_as_a_serv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705773"/>
            <a:ext cx="5376672" cy="300093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840480" cy="475488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🍕 04 雲服務類別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301752"/>
            <a:ext cx="576072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20 / 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6524512" cy="54864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60120"/>
            <a:ext cx="11091672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責任矩陣：到底誰負責管什麼？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548640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劃清責任劃分邊界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IaaS：你管 OS、環境、App與數據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PaaS：雲端管底層，你管 App與數據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SaaS：雲端供應商全權託管</a:t>
            </a:r>
          </a:p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劃清界限才能避開運維風險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480310"/>
            <a:ext cx="5468112" cy="34518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lide_who_manages_what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526030"/>
            <a:ext cx="5376672" cy="33604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840480" cy="475488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🍕 04 雲服務類別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301752"/>
            <a:ext cx="576072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21 / 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6850738" cy="54864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60120"/>
            <a:ext cx="11091672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黃金經驗法則：掌控度 vs 維護負擔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11091672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⚖️ 雲端服務鐵律：代管層級越高，管理越少但掌控越低！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  ✅ 你需要做的運維工作越少 (Less maintenance overhead)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  ⚠️ 但你享有的自定義掌控也越低 (Less control)</a:t>
            </a:r>
          </a:p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🎯 世界上沒有最好的模型，只有最符合企業業務節奏的選擇！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840480" cy="475488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🍕 04 雲服務類別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301752"/>
            <a:ext cx="576072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22 / 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7176964" cy="54864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60120"/>
            <a:ext cx="11091672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課堂思考：自製遊戲 vs 公司郵件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539496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🎮 情境 A：自訂遊戲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需特殊內核與低延遲網路</a:t>
            </a:r>
          </a:p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👉 選 IaaS 還是 SaaS？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✅ 答案：IaaS！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需對系統底層完全掌控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783080"/>
            <a:ext cx="539496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📧 情境 B：公司日常郵件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10 人團隊商務郵件溝通</a:t>
            </a:r>
          </a:p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👉 自建還是用 Gmail？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✅ 答案：SaaS (Gmail)！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零維護負擔，防垃圾信與高可用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840480" cy="47548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🚀 05 服務實例與活動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301752"/>
            <a:ext cx="576072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23 / 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7503189" cy="5486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280160" y="2011680"/>
            <a:ext cx="9628632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468880"/>
            <a:ext cx="9262872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5000" b="1">
                <a:solidFill>
                  <a:srgbClr val="0F172A"/>
                </a:solidFill>
                <a:latin typeface="Microsoft JhengHei"/>
              </a:defRPr>
            </a:pPr>
            <a:r>
              <a:t>5. 雲服務實例與活動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840480"/>
            <a:ext cx="9262872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3200" b="1">
                <a:solidFill>
                  <a:srgbClr val="10B981"/>
                </a:solidFill>
                <a:latin typeface="Microsoft JhengHei"/>
              </a:defRPr>
            </a:pPr>
            <a:r>
              <a:t>走出抽象概念：三大模式的業界代表與雙人挑戰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840480" cy="47548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🚀 05 服務實例與活動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301752"/>
            <a:ext cx="576072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24 / 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7829415" cy="5486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60120"/>
            <a:ext cx="11091672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IaaS 代表產品：AWS EC2 與 Azure VM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548640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租用彈性虛擬主機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AWS EC2、Azure VM 分鐘開機</a:t>
            </a:r>
          </a:p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自主配置操作系統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Ubuntu、Windows 自由選配</a:t>
            </a:r>
          </a:p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核心業務自主掌控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適合高資安要求的大型企業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660053"/>
            <a:ext cx="5468112" cy="309237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lide_06_iaas_re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705773"/>
            <a:ext cx="5376672" cy="3000933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840480" cy="47548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🚀 05 服務實例與活動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301752"/>
            <a:ext cx="576072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25 / 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8155641" cy="5486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60120"/>
            <a:ext cx="11091672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PaaS 代表產品：Beanstalk 與 Heroku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548640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AWS Elastic Beanstalk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上傳代碼，自動配置伺服器</a:t>
            </a:r>
          </a:p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Heroku 應用平台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一鍵發布 Web 應用程式</a:t>
            </a:r>
          </a:p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適合學生與初創團隊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專注寫代碼，免管底層伺服器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660053"/>
            <a:ext cx="5468112" cy="309237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lide_03_cloud_catego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705773"/>
            <a:ext cx="5376672" cy="3000933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840480" cy="47548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🚀 05 服務實例與活動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301752"/>
            <a:ext cx="576072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26 / 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8481866" cy="5486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60120"/>
            <a:ext cx="11091672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SaaS 代表產品：Workspace 與 M365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548640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辦公雲端協作套件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Google Docs 與 M365 協作</a:t>
            </a:r>
          </a:p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影音串流娛樂平台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Netflix 與 Spotify 隨開即播</a:t>
            </a:r>
          </a:p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終端用戶開箱即用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直接開箱使用，零維護負擔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877716"/>
            <a:ext cx="5468112" cy="2657047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rd_real_world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923436"/>
            <a:ext cx="5376672" cy="256560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840480" cy="47548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🚀 05 服務實例與活動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301752"/>
            <a:ext cx="576072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27 / 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8808092" cy="5486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60120"/>
            <a:ext cx="11091672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三大服務模式業界頂尖代表全景圖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0607" y="1737360"/>
            <a:ext cx="10247737" cy="49377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ard_real_world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327" y="1783080"/>
            <a:ext cx="10156297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840480" cy="47548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🚀 05 服務實例與活動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301752"/>
            <a:ext cx="576072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28 / 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9134318" cy="5486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60120"/>
            <a:ext cx="11091672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課堂雙人快問快答：6 款日常應用分類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0156" y="1737360"/>
            <a:ext cx="8168640" cy="49377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ard_class_activity_6ap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5876" y="1783080"/>
            <a:ext cx="80772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840480" cy="47548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🚀 05 服務實例與活動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301752"/>
            <a:ext cx="576072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29 / 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9460543" cy="5486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60120"/>
            <a:ext cx="11091672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活動答案揭曉與關鍵判斷依據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39210" y="1737360"/>
            <a:ext cx="8110530" cy="49377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ard_class_activity_answ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930" y="1783080"/>
            <a:ext cx="801909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840480" cy="47548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🚀 05 服務實例與活動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301752"/>
            <a:ext cx="576072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30 / 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9786769" cy="5486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60120"/>
            <a:ext cx="11091672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實戰思考：種子公司智慧物業的雲決策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11091672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🏢 種子公司上線智慧物業門禁與水電系統：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🔐 門禁核心資料庫 ➔ 選用 IaaS (EC2 / Azure VM)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自建專用加密憑證，確保住戶隱私極致安全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📱 報修與水電查詢 ➔ 選用 PaaS (Elastic Beanstalk)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每週上傳代碼，自動彈性擴展免盯伺服器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✉️ 客服與住戶郵箱 ➔ 直接採用 SaaS (M365 / Gmail)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享有 99.99% 高可用與頂級防垃圾信保護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840480" cy="47548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🎯 06 總結與預告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301752"/>
            <a:ext cx="576072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31 / 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0112995" cy="54864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60120"/>
            <a:ext cx="11091672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第一課核心知識圖譜總結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25647" y="1737360"/>
            <a:ext cx="9537656" cy="49377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able_iaas_paas_saas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367" y="1783080"/>
            <a:ext cx="9446216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840480" cy="47548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🎯 06 總結與預告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301752"/>
            <a:ext cx="576072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32 / 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0439220" cy="54864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60120"/>
            <a:ext cx="11091672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學習成效檢核 (ILO Check)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539496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✅ 1. 區分場所與雲資源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闡明擁有權、CapEx 與速度差異</a:t>
            </a:r>
          </a:p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✅ 2. 解釋軟體五層堆疊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運用器官比喻描述 OS、DB 與 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783080"/>
            <a:ext cx="539496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✅ 3. 掌握披薩責任模型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運用吃披薩比喻說明三者責任界限</a:t>
            </a:r>
          </a:p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✅ 4. 具備架構選型能力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針對業務場景精準推薦合適雲模式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840480" cy="47548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🎯 06 總結與預告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301752"/>
            <a:ext cx="576072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33 / 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0765446" cy="54864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60120"/>
            <a:ext cx="11091672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承先啟後：預告第 2 課「彈性計算機服務」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11091672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🌉 從第一課走向第二課：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我們已了解 IaaS 讓我們租用虛擬主機 (VM)。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那麼最著名的「彈性運算」究竟有多神奇？</a:t>
            </a:r>
          </a:p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🎗️ 像橡皮筋一樣伸縮的伺服器：</a:t>
            </a:r>
          </a:p>
          <a:p>
            <a:pPr>
              <a:spcAft>
                <a:spcPts val="400"/>
              </a:spcAft>
              <a:defRPr sz="3000" b="0">
                <a:solidFill>
                  <a:srgbClr val="475569"/>
                </a:solidFill>
                <a:latin typeface="Microsoft JhengHei"/>
              </a:defRPr>
            </a:pPr>
            <a:r>
              <a:t>  – 黑五流量暴增 10 倍，伺服器如何自動變大並縮回？</a:t>
            </a:r>
          </a:p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• 🚀 下節課重點：虛擬機 (VM)、Hypervisor、裸機與可用區！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023360" y="1371600"/>
            <a:ext cx="4142232" cy="56692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🎉 本課結束 • CONGRATULATIONS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1091672" cy="1188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6400" b="1">
                <a:solidFill>
                  <a:srgbClr val="FFFFFF"/>
                </a:solidFill>
                <a:latin typeface="Microsoft JhengHei"/>
              </a:defRPr>
            </a:pPr>
            <a:r>
              <a:t>謝謝大家！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11091672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3200" b="1">
                <a:solidFill>
                  <a:srgbClr val="94A3B8"/>
                </a:solidFill>
                <a:latin typeface="Microsoft JhengHei"/>
              </a:defRPr>
            </a:pPr>
            <a:r>
              <a:t>基礎雲計算技術 (Fundamental Cloud Computing Technologies)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08960" y="4754880"/>
            <a:ext cx="5971032" cy="566928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38BDF8"/>
                </a:solidFill>
                <a:latin typeface="Microsoft JhengHei"/>
              </a:defRPr>
            </a:pPr>
            <a:r>
              <a:t>SEED Foundation • 雲計算認證系列課程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